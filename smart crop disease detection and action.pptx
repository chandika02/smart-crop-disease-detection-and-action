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68" r:id="rId3"/>
    <p:sldId id="303" r:id="rId4"/>
    <p:sldId id="302" r:id="rId5"/>
    <p:sldId id="298" r:id="rId6"/>
    <p:sldId id="301" r:id="rId7"/>
    <p:sldId id="297" r:id="rId8"/>
    <p:sldId id="267" r:id="rId9"/>
    <p:sldId id="304" r:id="rId10"/>
    <p:sldId id="305" r:id="rId11"/>
    <p:sldId id="283" r:id="rId12"/>
    <p:sldId id="258" r:id="rId13"/>
    <p:sldId id="259" r:id="rId14"/>
    <p:sldId id="306" r:id="rId15"/>
    <p:sldId id="275" r:id="rId16"/>
    <p:sldId id="276" r:id="rId17"/>
    <p:sldId id="263" r:id="rId18"/>
    <p:sldId id="277" r:id="rId19"/>
    <p:sldId id="264" r:id="rId20"/>
    <p:sldId id="26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2B30AA-D0D0-4A1F-B899-86662291B111}" v="1" dt="2025-12-17T12:54:00.5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 ananditha" userId="58f59ed7b99de093" providerId="LiveId" clId="{B3B7107D-A376-484C-BEAC-49E266FE7096}"/>
    <pc:docChg chg="undo custSel modSld">
      <pc:chgData name="Anu ananditha" userId="58f59ed7b99de093" providerId="LiveId" clId="{B3B7107D-A376-484C-BEAC-49E266FE7096}" dt="2025-12-17T12:54:35.393" v="61" actId="1076"/>
      <pc:docMkLst>
        <pc:docMk/>
      </pc:docMkLst>
      <pc:sldChg chg="modSp mod">
        <pc:chgData name="Anu ananditha" userId="58f59ed7b99de093" providerId="LiveId" clId="{B3B7107D-A376-484C-BEAC-49E266FE7096}" dt="2025-12-17T12:50:04.927" v="56" actId="1076"/>
        <pc:sldMkLst>
          <pc:docMk/>
          <pc:sldMk cId="3557059594" sldId="265"/>
        </pc:sldMkLst>
        <pc:spChg chg="mod">
          <ac:chgData name="Anu ananditha" userId="58f59ed7b99de093" providerId="LiveId" clId="{B3B7107D-A376-484C-BEAC-49E266FE7096}" dt="2025-12-17T12:50:00.381" v="55" actId="1076"/>
          <ac:spMkLst>
            <pc:docMk/>
            <pc:sldMk cId="3557059594" sldId="265"/>
            <ac:spMk id="2" creationId="{A7CE62CD-03B9-24DA-3CBA-AEE0A8C052DE}"/>
          </ac:spMkLst>
        </pc:spChg>
        <pc:spChg chg="mod">
          <ac:chgData name="Anu ananditha" userId="58f59ed7b99de093" providerId="LiveId" clId="{B3B7107D-A376-484C-BEAC-49E266FE7096}" dt="2025-12-17T12:50:04.927" v="56" actId="1076"/>
          <ac:spMkLst>
            <pc:docMk/>
            <pc:sldMk cId="3557059594" sldId="265"/>
            <ac:spMk id="3" creationId="{1604F1F4-D9C8-8E84-9EC7-B016E459AD44}"/>
          </ac:spMkLst>
        </pc:spChg>
      </pc:sldChg>
      <pc:sldChg chg="modSp mod">
        <pc:chgData name="Anu ananditha" userId="58f59ed7b99de093" providerId="LiveId" clId="{B3B7107D-A376-484C-BEAC-49E266FE7096}" dt="2025-12-17T12:54:35.393" v="61" actId="1076"/>
        <pc:sldMkLst>
          <pc:docMk/>
          <pc:sldMk cId="0" sldId="283"/>
        </pc:sldMkLst>
        <pc:spChg chg="mod">
          <ac:chgData name="Anu ananditha" userId="58f59ed7b99de093" providerId="LiveId" clId="{B3B7107D-A376-484C-BEAC-49E266FE7096}" dt="2025-12-17T12:54:35.393" v="61" actId="1076"/>
          <ac:spMkLst>
            <pc:docMk/>
            <pc:sldMk cId="0" sldId="283"/>
            <ac:spMk id="4" creationId="{00000000-0000-0000-0000-000000000000}"/>
          </ac:spMkLst>
        </pc:spChg>
        <pc:spChg chg="mod">
          <ac:chgData name="Anu ananditha" userId="58f59ed7b99de093" providerId="LiveId" clId="{B3B7107D-A376-484C-BEAC-49E266FE7096}" dt="2025-12-17T12:54:05.842" v="60" actId="2711"/>
          <ac:spMkLst>
            <pc:docMk/>
            <pc:sldMk cId="0" sldId="283"/>
            <ac:spMk id="9" creationId="{FDE23197-D16E-75BC-7351-35EBDA14190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721A2C-ACCC-4DE8-90B3-4227FFCEA1CB}" type="datetimeFigureOut">
              <a:rPr lang="en-IN" smtClean="0"/>
              <a:t>19-12-2025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79A19B-D9A5-4D4A-A7E1-0A703C6CC0C5}" type="slidenum">
              <a:rPr lang="en-IN" smtClean="0"/>
              <a:t>‹#›</a:t>
            </a:fld>
            <a:endParaRPr lang="en-IN"/>
          </a:p>
        </p:txBody>
      </p:sp>
    </p:spTree>
    <p:extLst>
      <p:ext uri="{BB962C8B-B14F-4D97-AF65-F5344CB8AC3E}">
        <p14:creationId xmlns:p14="http://schemas.microsoft.com/office/powerpoint/2010/main" val="976050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C4703-CFE6-57EF-8A7A-AB7D8BFA1E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027AABE-E2CF-EF43-100B-632C499986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132B44A-F8A9-0125-6A56-F2A2D4A52F45}"/>
              </a:ext>
            </a:extLst>
          </p:cNvPr>
          <p:cNvSpPr>
            <a:spLocks noGrp="1"/>
          </p:cNvSpPr>
          <p:nvPr>
            <p:ph type="dt" sz="half" idx="10"/>
          </p:nvPr>
        </p:nvSpPr>
        <p:spPr/>
        <p:txBody>
          <a:bodyPr/>
          <a:lstStyle/>
          <a:p>
            <a:fld id="{FF2FBC59-3FAE-4169-9A5D-9E13A03704A2}" type="datetime1">
              <a:rPr lang="en-IN" smtClean="0"/>
              <a:t>19-12-2025</a:t>
            </a:fld>
            <a:endParaRPr lang="en-IN"/>
          </a:p>
        </p:txBody>
      </p:sp>
      <p:sp>
        <p:nvSpPr>
          <p:cNvPr id="5" name="Footer Placeholder 4">
            <a:extLst>
              <a:ext uri="{FF2B5EF4-FFF2-40B4-BE49-F238E27FC236}">
                <a16:creationId xmlns:a16="http://schemas.microsoft.com/office/drawing/2014/main" id="{597A95AE-9010-D72D-651C-6CDDE1D061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644FDB-FABA-A94D-6201-73B504946D12}"/>
              </a:ext>
            </a:extLst>
          </p:cNvPr>
          <p:cNvSpPr>
            <a:spLocks noGrp="1"/>
          </p:cNvSpPr>
          <p:nvPr>
            <p:ph type="sldNum" sz="quarter" idx="12"/>
          </p:nvPr>
        </p:nvSpPr>
        <p:spPr/>
        <p:txBody>
          <a:bodyPr/>
          <a:lstStyle/>
          <a:p>
            <a:fld id="{76349249-FC48-47B8-92FA-4330554B3729}" type="slidenum">
              <a:rPr lang="en-IN" smtClean="0"/>
              <a:t>‹#›</a:t>
            </a:fld>
            <a:endParaRPr lang="en-IN"/>
          </a:p>
        </p:txBody>
      </p:sp>
    </p:spTree>
    <p:extLst>
      <p:ext uri="{BB962C8B-B14F-4D97-AF65-F5344CB8AC3E}">
        <p14:creationId xmlns:p14="http://schemas.microsoft.com/office/powerpoint/2010/main" val="1116192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EDC39-FA8F-2D09-486B-E60A9A3C88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FCF690-65E4-2ADC-8149-21EC282BEF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F1725C-FF30-30BE-652B-4B67D44F0313}"/>
              </a:ext>
            </a:extLst>
          </p:cNvPr>
          <p:cNvSpPr>
            <a:spLocks noGrp="1"/>
          </p:cNvSpPr>
          <p:nvPr>
            <p:ph type="dt" sz="half" idx="10"/>
          </p:nvPr>
        </p:nvSpPr>
        <p:spPr/>
        <p:txBody>
          <a:bodyPr/>
          <a:lstStyle/>
          <a:p>
            <a:fld id="{C1F34FE7-2F07-418F-84A6-E08EF12FF1DA}" type="datetime1">
              <a:rPr lang="en-IN" smtClean="0"/>
              <a:t>19-12-2025</a:t>
            </a:fld>
            <a:endParaRPr lang="en-IN"/>
          </a:p>
        </p:txBody>
      </p:sp>
      <p:sp>
        <p:nvSpPr>
          <p:cNvPr id="5" name="Footer Placeholder 4">
            <a:extLst>
              <a:ext uri="{FF2B5EF4-FFF2-40B4-BE49-F238E27FC236}">
                <a16:creationId xmlns:a16="http://schemas.microsoft.com/office/drawing/2014/main" id="{1459AD65-C216-D07A-B6A8-F3FE03B7BF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974C3B-A0C7-1380-0CD2-A34966F73A41}"/>
              </a:ext>
            </a:extLst>
          </p:cNvPr>
          <p:cNvSpPr>
            <a:spLocks noGrp="1"/>
          </p:cNvSpPr>
          <p:nvPr>
            <p:ph type="sldNum" sz="quarter" idx="12"/>
          </p:nvPr>
        </p:nvSpPr>
        <p:spPr/>
        <p:txBody>
          <a:bodyPr/>
          <a:lstStyle/>
          <a:p>
            <a:fld id="{76349249-FC48-47B8-92FA-4330554B3729}" type="slidenum">
              <a:rPr lang="en-IN" smtClean="0"/>
              <a:t>‹#›</a:t>
            </a:fld>
            <a:endParaRPr lang="en-IN"/>
          </a:p>
        </p:txBody>
      </p:sp>
    </p:spTree>
    <p:extLst>
      <p:ext uri="{BB962C8B-B14F-4D97-AF65-F5344CB8AC3E}">
        <p14:creationId xmlns:p14="http://schemas.microsoft.com/office/powerpoint/2010/main" val="3911822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E747B-D332-AC33-A889-469CA3FD28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4FCEB2-592F-B6C3-5354-84F250A280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C7E835-3FBB-E232-54CB-B6723A35DE0C}"/>
              </a:ext>
            </a:extLst>
          </p:cNvPr>
          <p:cNvSpPr>
            <a:spLocks noGrp="1"/>
          </p:cNvSpPr>
          <p:nvPr>
            <p:ph type="dt" sz="half" idx="10"/>
          </p:nvPr>
        </p:nvSpPr>
        <p:spPr/>
        <p:txBody>
          <a:bodyPr/>
          <a:lstStyle/>
          <a:p>
            <a:fld id="{CEF6D3CB-00AB-4FE4-9DAD-91EA3717A732}" type="datetime1">
              <a:rPr lang="en-IN" smtClean="0"/>
              <a:t>19-12-2025</a:t>
            </a:fld>
            <a:endParaRPr lang="en-IN"/>
          </a:p>
        </p:txBody>
      </p:sp>
      <p:sp>
        <p:nvSpPr>
          <p:cNvPr id="5" name="Footer Placeholder 4">
            <a:extLst>
              <a:ext uri="{FF2B5EF4-FFF2-40B4-BE49-F238E27FC236}">
                <a16:creationId xmlns:a16="http://schemas.microsoft.com/office/drawing/2014/main" id="{34FCB6A6-7225-64D6-F775-5CC675D719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222E78-7E68-2687-18C5-7FF787A24CF1}"/>
              </a:ext>
            </a:extLst>
          </p:cNvPr>
          <p:cNvSpPr>
            <a:spLocks noGrp="1"/>
          </p:cNvSpPr>
          <p:nvPr>
            <p:ph type="sldNum" sz="quarter" idx="12"/>
          </p:nvPr>
        </p:nvSpPr>
        <p:spPr/>
        <p:txBody>
          <a:bodyPr/>
          <a:lstStyle/>
          <a:p>
            <a:fld id="{76349249-FC48-47B8-92FA-4330554B3729}" type="slidenum">
              <a:rPr lang="en-IN" smtClean="0"/>
              <a:t>‹#›</a:t>
            </a:fld>
            <a:endParaRPr lang="en-IN"/>
          </a:p>
        </p:txBody>
      </p:sp>
    </p:spTree>
    <p:extLst>
      <p:ext uri="{BB962C8B-B14F-4D97-AF65-F5344CB8AC3E}">
        <p14:creationId xmlns:p14="http://schemas.microsoft.com/office/powerpoint/2010/main" val="2176045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C67C0-AEB1-71E2-F256-024CBE8305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33C5E1-0E82-81A5-A03C-AA2BD71DA1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EAD64D4-3C8C-0888-70B6-0546F7C94F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0109C6B-D54F-1AB0-BD07-B65C2436C04B}"/>
              </a:ext>
            </a:extLst>
          </p:cNvPr>
          <p:cNvSpPr>
            <a:spLocks noGrp="1"/>
          </p:cNvSpPr>
          <p:nvPr>
            <p:ph type="dt" sz="half" idx="10"/>
          </p:nvPr>
        </p:nvSpPr>
        <p:spPr/>
        <p:txBody>
          <a:bodyPr/>
          <a:lstStyle/>
          <a:p>
            <a:fld id="{43B2B445-7BE7-45B1-B6BF-5BB39ED1FFCB}" type="datetime1">
              <a:rPr lang="en-IN" smtClean="0"/>
              <a:t>19-12-2025</a:t>
            </a:fld>
            <a:endParaRPr lang="en-IN"/>
          </a:p>
        </p:txBody>
      </p:sp>
      <p:sp>
        <p:nvSpPr>
          <p:cNvPr id="6" name="Footer Placeholder 5">
            <a:extLst>
              <a:ext uri="{FF2B5EF4-FFF2-40B4-BE49-F238E27FC236}">
                <a16:creationId xmlns:a16="http://schemas.microsoft.com/office/drawing/2014/main" id="{1DDE777C-8B32-B03B-C3F4-79EFF4BE24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643533-9931-6CBD-14A1-783F68D5C39B}"/>
              </a:ext>
            </a:extLst>
          </p:cNvPr>
          <p:cNvSpPr>
            <a:spLocks noGrp="1"/>
          </p:cNvSpPr>
          <p:nvPr>
            <p:ph type="sldNum" sz="quarter" idx="12"/>
          </p:nvPr>
        </p:nvSpPr>
        <p:spPr/>
        <p:txBody>
          <a:bodyPr/>
          <a:lstStyle/>
          <a:p>
            <a:fld id="{76349249-FC48-47B8-92FA-4330554B3729}" type="slidenum">
              <a:rPr lang="en-IN" smtClean="0"/>
              <a:t>‹#›</a:t>
            </a:fld>
            <a:endParaRPr lang="en-IN"/>
          </a:p>
        </p:txBody>
      </p:sp>
    </p:spTree>
    <p:extLst>
      <p:ext uri="{BB962C8B-B14F-4D97-AF65-F5344CB8AC3E}">
        <p14:creationId xmlns:p14="http://schemas.microsoft.com/office/powerpoint/2010/main" val="1142920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BB8FA-2D51-6533-6F08-DACF51EE67B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0434E6-E1FC-4477-FDA8-58CD676C18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14A2B8-8F7B-9E60-E215-4C3B038549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F706DF9-E36F-D896-5A17-4A2942AEE7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36F78E-2F48-EBB5-ACB0-A32A05CB02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B27842C-C579-F039-DD61-9EE68952BA37}"/>
              </a:ext>
            </a:extLst>
          </p:cNvPr>
          <p:cNvSpPr>
            <a:spLocks noGrp="1"/>
          </p:cNvSpPr>
          <p:nvPr>
            <p:ph type="dt" sz="half" idx="10"/>
          </p:nvPr>
        </p:nvSpPr>
        <p:spPr/>
        <p:txBody>
          <a:bodyPr/>
          <a:lstStyle/>
          <a:p>
            <a:fld id="{6BC4E03B-DBB7-44BA-8897-40283564DC2B}" type="datetime1">
              <a:rPr lang="en-IN" smtClean="0"/>
              <a:t>19-12-2025</a:t>
            </a:fld>
            <a:endParaRPr lang="en-IN"/>
          </a:p>
        </p:txBody>
      </p:sp>
      <p:sp>
        <p:nvSpPr>
          <p:cNvPr id="8" name="Footer Placeholder 7">
            <a:extLst>
              <a:ext uri="{FF2B5EF4-FFF2-40B4-BE49-F238E27FC236}">
                <a16:creationId xmlns:a16="http://schemas.microsoft.com/office/drawing/2014/main" id="{9ACED236-127C-CE51-C039-3E5E36D1EAA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86F15E-3CCA-DD8E-252B-8DE2DABE02A5}"/>
              </a:ext>
            </a:extLst>
          </p:cNvPr>
          <p:cNvSpPr>
            <a:spLocks noGrp="1"/>
          </p:cNvSpPr>
          <p:nvPr>
            <p:ph type="sldNum" sz="quarter" idx="12"/>
          </p:nvPr>
        </p:nvSpPr>
        <p:spPr/>
        <p:txBody>
          <a:bodyPr/>
          <a:lstStyle/>
          <a:p>
            <a:fld id="{76349249-FC48-47B8-92FA-4330554B3729}" type="slidenum">
              <a:rPr lang="en-IN" smtClean="0"/>
              <a:t>‹#›</a:t>
            </a:fld>
            <a:endParaRPr lang="en-IN"/>
          </a:p>
        </p:txBody>
      </p:sp>
    </p:spTree>
    <p:extLst>
      <p:ext uri="{BB962C8B-B14F-4D97-AF65-F5344CB8AC3E}">
        <p14:creationId xmlns:p14="http://schemas.microsoft.com/office/powerpoint/2010/main" val="1255820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B0E5E-73A1-8933-D274-C621E5AD98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DD67EDA-7C43-80EF-3829-009B78880FA2}"/>
              </a:ext>
            </a:extLst>
          </p:cNvPr>
          <p:cNvSpPr>
            <a:spLocks noGrp="1"/>
          </p:cNvSpPr>
          <p:nvPr>
            <p:ph type="dt" sz="half" idx="10"/>
          </p:nvPr>
        </p:nvSpPr>
        <p:spPr/>
        <p:txBody>
          <a:bodyPr/>
          <a:lstStyle/>
          <a:p>
            <a:fld id="{760FF7CD-A4F4-4EF2-A1F9-347A1B5C20F4}" type="datetime1">
              <a:rPr lang="en-IN" smtClean="0"/>
              <a:t>19-12-2025</a:t>
            </a:fld>
            <a:endParaRPr lang="en-IN"/>
          </a:p>
        </p:txBody>
      </p:sp>
      <p:sp>
        <p:nvSpPr>
          <p:cNvPr id="4" name="Footer Placeholder 3">
            <a:extLst>
              <a:ext uri="{FF2B5EF4-FFF2-40B4-BE49-F238E27FC236}">
                <a16:creationId xmlns:a16="http://schemas.microsoft.com/office/drawing/2014/main" id="{BF60D62C-ABAC-D53F-27AB-BD266583D94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75DA076-FD6B-33B2-7DEC-A70C0913ACEB}"/>
              </a:ext>
            </a:extLst>
          </p:cNvPr>
          <p:cNvSpPr>
            <a:spLocks noGrp="1"/>
          </p:cNvSpPr>
          <p:nvPr>
            <p:ph type="sldNum" sz="quarter" idx="12"/>
          </p:nvPr>
        </p:nvSpPr>
        <p:spPr/>
        <p:txBody>
          <a:bodyPr/>
          <a:lstStyle/>
          <a:p>
            <a:fld id="{76349249-FC48-47B8-92FA-4330554B3729}" type="slidenum">
              <a:rPr lang="en-IN" smtClean="0"/>
              <a:t>‹#›</a:t>
            </a:fld>
            <a:endParaRPr lang="en-IN"/>
          </a:p>
        </p:txBody>
      </p:sp>
    </p:spTree>
    <p:extLst>
      <p:ext uri="{BB962C8B-B14F-4D97-AF65-F5344CB8AC3E}">
        <p14:creationId xmlns:p14="http://schemas.microsoft.com/office/powerpoint/2010/main" val="405295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A79367-A6C2-4BAE-51BC-5944639C68B2}"/>
              </a:ext>
            </a:extLst>
          </p:cNvPr>
          <p:cNvSpPr>
            <a:spLocks noGrp="1"/>
          </p:cNvSpPr>
          <p:nvPr>
            <p:ph type="dt" sz="half" idx="10"/>
          </p:nvPr>
        </p:nvSpPr>
        <p:spPr/>
        <p:txBody>
          <a:bodyPr/>
          <a:lstStyle/>
          <a:p>
            <a:fld id="{983206DC-9B8A-49CA-BCDD-1E6E232ECFCA}" type="datetime1">
              <a:rPr lang="en-IN" smtClean="0"/>
              <a:t>19-12-2025</a:t>
            </a:fld>
            <a:endParaRPr lang="en-IN"/>
          </a:p>
        </p:txBody>
      </p:sp>
      <p:sp>
        <p:nvSpPr>
          <p:cNvPr id="3" name="Footer Placeholder 2">
            <a:extLst>
              <a:ext uri="{FF2B5EF4-FFF2-40B4-BE49-F238E27FC236}">
                <a16:creationId xmlns:a16="http://schemas.microsoft.com/office/drawing/2014/main" id="{E61EDBFF-22BD-07EB-CBA9-D0E1950C16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4A65932-0C19-A89C-5AAF-31BF6CDC1D98}"/>
              </a:ext>
            </a:extLst>
          </p:cNvPr>
          <p:cNvSpPr>
            <a:spLocks noGrp="1"/>
          </p:cNvSpPr>
          <p:nvPr>
            <p:ph type="sldNum" sz="quarter" idx="12"/>
          </p:nvPr>
        </p:nvSpPr>
        <p:spPr/>
        <p:txBody>
          <a:bodyPr/>
          <a:lstStyle/>
          <a:p>
            <a:fld id="{76349249-FC48-47B8-92FA-4330554B3729}" type="slidenum">
              <a:rPr lang="en-IN" smtClean="0"/>
              <a:t>‹#›</a:t>
            </a:fld>
            <a:endParaRPr lang="en-IN"/>
          </a:p>
        </p:txBody>
      </p:sp>
    </p:spTree>
    <p:extLst>
      <p:ext uri="{BB962C8B-B14F-4D97-AF65-F5344CB8AC3E}">
        <p14:creationId xmlns:p14="http://schemas.microsoft.com/office/powerpoint/2010/main" val="433672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AD57F-8940-74B0-792D-7C2F497B2A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D5B8535-1CDD-4DBE-772E-B95F751F37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E9D8997-E44D-21AA-79FE-AB245A156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1C02EC-D6E3-2B6E-BC6F-8EB64E7F2A42}"/>
              </a:ext>
            </a:extLst>
          </p:cNvPr>
          <p:cNvSpPr>
            <a:spLocks noGrp="1"/>
          </p:cNvSpPr>
          <p:nvPr>
            <p:ph type="dt" sz="half" idx="10"/>
          </p:nvPr>
        </p:nvSpPr>
        <p:spPr/>
        <p:txBody>
          <a:bodyPr/>
          <a:lstStyle/>
          <a:p>
            <a:fld id="{7D1985F4-4FA8-420C-B0DD-117DA221A0EA}" type="datetime1">
              <a:rPr lang="en-IN" smtClean="0"/>
              <a:t>19-12-2025</a:t>
            </a:fld>
            <a:endParaRPr lang="en-IN"/>
          </a:p>
        </p:txBody>
      </p:sp>
      <p:sp>
        <p:nvSpPr>
          <p:cNvPr id="6" name="Footer Placeholder 5">
            <a:extLst>
              <a:ext uri="{FF2B5EF4-FFF2-40B4-BE49-F238E27FC236}">
                <a16:creationId xmlns:a16="http://schemas.microsoft.com/office/drawing/2014/main" id="{34A5C9E2-969E-C53F-4879-769F8E18BC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91635F-8132-0BB8-89DB-9D658B134698}"/>
              </a:ext>
            </a:extLst>
          </p:cNvPr>
          <p:cNvSpPr>
            <a:spLocks noGrp="1"/>
          </p:cNvSpPr>
          <p:nvPr>
            <p:ph type="sldNum" sz="quarter" idx="12"/>
          </p:nvPr>
        </p:nvSpPr>
        <p:spPr/>
        <p:txBody>
          <a:bodyPr/>
          <a:lstStyle/>
          <a:p>
            <a:fld id="{76349249-FC48-47B8-92FA-4330554B3729}" type="slidenum">
              <a:rPr lang="en-IN" smtClean="0"/>
              <a:t>‹#›</a:t>
            </a:fld>
            <a:endParaRPr lang="en-IN"/>
          </a:p>
        </p:txBody>
      </p:sp>
    </p:spTree>
    <p:extLst>
      <p:ext uri="{BB962C8B-B14F-4D97-AF65-F5344CB8AC3E}">
        <p14:creationId xmlns:p14="http://schemas.microsoft.com/office/powerpoint/2010/main" val="38898843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99840-919C-4CFC-A99E-49009CC5EB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BB9E334-F6A4-DAEE-CD2D-8B8EFC201F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95BE4F3-B19B-4440-A530-C1405AFF19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FC55E0-CB45-F7FA-EA3E-E0F395F92D8C}"/>
              </a:ext>
            </a:extLst>
          </p:cNvPr>
          <p:cNvSpPr>
            <a:spLocks noGrp="1"/>
          </p:cNvSpPr>
          <p:nvPr>
            <p:ph type="dt" sz="half" idx="10"/>
          </p:nvPr>
        </p:nvSpPr>
        <p:spPr/>
        <p:txBody>
          <a:bodyPr/>
          <a:lstStyle/>
          <a:p>
            <a:fld id="{B8188428-FB60-469A-98CF-653A4660604C}" type="datetime1">
              <a:rPr lang="en-IN" smtClean="0"/>
              <a:t>19-12-2025</a:t>
            </a:fld>
            <a:endParaRPr lang="en-IN"/>
          </a:p>
        </p:txBody>
      </p:sp>
      <p:sp>
        <p:nvSpPr>
          <p:cNvPr id="6" name="Footer Placeholder 5">
            <a:extLst>
              <a:ext uri="{FF2B5EF4-FFF2-40B4-BE49-F238E27FC236}">
                <a16:creationId xmlns:a16="http://schemas.microsoft.com/office/drawing/2014/main" id="{BDD4F65C-332A-5E4A-21C7-2D0DB0EF5D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CFCC3A-6BCE-FB37-A8B9-3B465CB1F807}"/>
              </a:ext>
            </a:extLst>
          </p:cNvPr>
          <p:cNvSpPr>
            <a:spLocks noGrp="1"/>
          </p:cNvSpPr>
          <p:nvPr>
            <p:ph type="sldNum" sz="quarter" idx="12"/>
          </p:nvPr>
        </p:nvSpPr>
        <p:spPr/>
        <p:txBody>
          <a:bodyPr/>
          <a:lstStyle/>
          <a:p>
            <a:fld id="{76349249-FC48-47B8-92FA-4330554B3729}" type="slidenum">
              <a:rPr lang="en-IN" smtClean="0"/>
              <a:t>‹#›</a:t>
            </a:fld>
            <a:endParaRPr lang="en-IN"/>
          </a:p>
        </p:txBody>
      </p:sp>
    </p:spTree>
    <p:extLst>
      <p:ext uri="{BB962C8B-B14F-4D97-AF65-F5344CB8AC3E}">
        <p14:creationId xmlns:p14="http://schemas.microsoft.com/office/powerpoint/2010/main" val="320979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ADCF0-308C-259D-1F9D-FEF51543D36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4B2D75-938F-A9D8-AF6C-1885D6B5FB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3D83F6-1C13-5472-825C-1DF8DDB22D60}"/>
              </a:ext>
            </a:extLst>
          </p:cNvPr>
          <p:cNvSpPr>
            <a:spLocks noGrp="1"/>
          </p:cNvSpPr>
          <p:nvPr>
            <p:ph type="dt" sz="half" idx="10"/>
          </p:nvPr>
        </p:nvSpPr>
        <p:spPr/>
        <p:txBody>
          <a:bodyPr/>
          <a:lstStyle/>
          <a:p>
            <a:fld id="{3123D02B-B21B-4B3C-B727-7106275CDA99}" type="datetime1">
              <a:rPr lang="en-IN" smtClean="0"/>
              <a:t>19-12-2025</a:t>
            </a:fld>
            <a:endParaRPr lang="en-IN"/>
          </a:p>
        </p:txBody>
      </p:sp>
      <p:sp>
        <p:nvSpPr>
          <p:cNvPr id="5" name="Footer Placeholder 4">
            <a:extLst>
              <a:ext uri="{FF2B5EF4-FFF2-40B4-BE49-F238E27FC236}">
                <a16:creationId xmlns:a16="http://schemas.microsoft.com/office/drawing/2014/main" id="{B4A08B3B-89A9-1455-8890-0D4252867F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85DD82-CAE2-85A9-6FD6-2D58509F1EA6}"/>
              </a:ext>
            </a:extLst>
          </p:cNvPr>
          <p:cNvSpPr>
            <a:spLocks noGrp="1"/>
          </p:cNvSpPr>
          <p:nvPr>
            <p:ph type="sldNum" sz="quarter" idx="12"/>
          </p:nvPr>
        </p:nvSpPr>
        <p:spPr/>
        <p:txBody>
          <a:bodyPr/>
          <a:lstStyle/>
          <a:p>
            <a:fld id="{76349249-FC48-47B8-92FA-4330554B3729}" type="slidenum">
              <a:rPr lang="en-IN" smtClean="0"/>
              <a:t>‹#›</a:t>
            </a:fld>
            <a:endParaRPr lang="en-IN"/>
          </a:p>
        </p:txBody>
      </p:sp>
    </p:spTree>
    <p:extLst>
      <p:ext uri="{BB962C8B-B14F-4D97-AF65-F5344CB8AC3E}">
        <p14:creationId xmlns:p14="http://schemas.microsoft.com/office/powerpoint/2010/main" val="2967375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A3373A-198E-1CB2-9290-7E9A72ACED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3E927F2-A2DD-8CCB-4466-15EE92327D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DC5C7A-CE81-35EB-34FF-A9EEDA081131}"/>
              </a:ext>
            </a:extLst>
          </p:cNvPr>
          <p:cNvSpPr>
            <a:spLocks noGrp="1"/>
          </p:cNvSpPr>
          <p:nvPr>
            <p:ph type="dt" sz="half" idx="10"/>
          </p:nvPr>
        </p:nvSpPr>
        <p:spPr/>
        <p:txBody>
          <a:bodyPr/>
          <a:lstStyle/>
          <a:p>
            <a:fld id="{1A072494-3CDB-4513-8385-F603FCAB9A78}" type="datetime1">
              <a:rPr lang="en-IN" smtClean="0"/>
              <a:t>19-12-2025</a:t>
            </a:fld>
            <a:endParaRPr lang="en-IN"/>
          </a:p>
        </p:txBody>
      </p:sp>
      <p:sp>
        <p:nvSpPr>
          <p:cNvPr id="5" name="Footer Placeholder 4">
            <a:extLst>
              <a:ext uri="{FF2B5EF4-FFF2-40B4-BE49-F238E27FC236}">
                <a16:creationId xmlns:a16="http://schemas.microsoft.com/office/drawing/2014/main" id="{F7DEBADA-A575-1C6B-3E61-4E0DEDE4EA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FB8488-065A-57A9-A8D4-57CC06B039D1}"/>
              </a:ext>
            </a:extLst>
          </p:cNvPr>
          <p:cNvSpPr>
            <a:spLocks noGrp="1"/>
          </p:cNvSpPr>
          <p:nvPr>
            <p:ph type="sldNum" sz="quarter" idx="12"/>
          </p:nvPr>
        </p:nvSpPr>
        <p:spPr/>
        <p:txBody>
          <a:bodyPr/>
          <a:lstStyle/>
          <a:p>
            <a:fld id="{76349249-FC48-47B8-92FA-4330554B3729}" type="slidenum">
              <a:rPr lang="en-IN" smtClean="0"/>
              <a:t>‹#›</a:t>
            </a:fld>
            <a:endParaRPr lang="en-IN"/>
          </a:p>
        </p:txBody>
      </p:sp>
    </p:spTree>
    <p:extLst>
      <p:ext uri="{BB962C8B-B14F-4D97-AF65-F5344CB8AC3E}">
        <p14:creationId xmlns:p14="http://schemas.microsoft.com/office/powerpoint/2010/main" val="1985298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8ABE31-B116-0943-36C9-074FED8344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DDD483-A976-EF2C-24C9-492FE61C7F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309ED7-EBBE-C302-6353-78D3F21AD5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2DF196-AD19-46D6-9ED3-9CD0AF65BD6F}" type="datetime1">
              <a:rPr lang="en-IN" smtClean="0"/>
              <a:t>19-12-2025</a:t>
            </a:fld>
            <a:endParaRPr lang="en-IN"/>
          </a:p>
        </p:txBody>
      </p:sp>
      <p:sp>
        <p:nvSpPr>
          <p:cNvPr id="5" name="Footer Placeholder 4">
            <a:extLst>
              <a:ext uri="{FF2B5EF4-FFF2-40B4-BE49-F238E27FC236}">
                <a16:creationId xmlns:a16="http://schemas.microsoft.com/office/drawing/2014/main" id="{935570AC-EBFB-6ED2-19E3-A517156159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99AFBC2-522E-7425-F133-EC265696F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349249-FC48-47B8-92FA-4330554B3729}" type="slidenum">
              <a:rPr lang="en-IN" smtClean="0"/>
              <a:t>‹#›</a:t>
            </a:fld>
            <a:endParaRPr lang="en-IN"/>
          </a:p>
        </p:txBody>
      </p:sp>
    </p:spTree>
    <p:extLst>
      <p:ext uri="{BB962C8B-B14F-4D97-AF65-F5344CB8AC3E}">
        <p14:creationId xmlns:p14="http://schemas.microsoft.com/office/powerpoint/2010/main" val="2721952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tags" Target="../tags/tag1.xml"/><Relationship Id="rId5" Type="http://schemas.openxmlformats.org/officeDocument/2006/relationships/image" Target="../media/image1.png"/><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a:extLst>
              <a:ext uri="{FF2B5EF4-FFF2-40B4-BE49-F238E27FC236}">
                <a16:creationId xmlns:a16="http://schemas.microsoft.com/office/drawing/2014/main" id="{FE45961C-2BC6-7C2B-47AA-D96AC28ADC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a:extLst>
              <a:ext uri="{FF2B5EF4-FFF2-40B4-BE49-F238E27FC236}">
                <a16:creationId xmlns:a16="http://schemas.microsoft.com/office/drawing/2014/main" id="{8E7335DF-FA6F-3FB9-52A7-FC9B4E8959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a:extLst>
              <a:ext uri="{FF2B5EF4-FFF2-40B4-BE49-F238E27FC236}">
                <a16:creationId xmlns:a16="http://schemas.microsoft.com/office/drawing/2014/main" id="{14B43523-78E1-77E5-05BE-D4857F9C1F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5150" y="229355"/>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45F4698D-FFF2-374A-0B13-771CFE06668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5">
            <a:extLst>
              <a:ext uri="{FF2B5EF4-FFF2-40B4-BE49-F238E27FC236}">
                <a16:creationId xmlns:a16="http://schemas.microsoft.com/office/drawing/2014/main" id="{F632B5AB-6A47-47A4-3931-DE870F814324}"/>
              </a:ext>
            </a:extLst>
          </p:cNvPr>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TextBox 5">
            <a:extLst>
              <a:ext uri="{FF2B5EF4-FFF2-40B4-BE49-F238E27FC236}">
                <a16:creationId xmlns:a16="http://schemas.microsoft.com/office/drawing/2014/main" id="{8233AB7C-CAD8-A6D1-E31D-6C865792EA66}"/>
              </a:ext>
            </a:extLst>
          </p:cNvPr>
          <p:cNvSpPr txBox="1"/>
          <p:nvPr/>
        </p:nvSpPr>
        <p:spPr>
          <a:xfrm>
            <a:off x="2765015" y="1508054"/>
            <a:ext cx="6756386" cy="984885"/>
          </a:xfrm>
          <a:prstGeom prst="rect">
            <a:avLst/>
          </a:prstGeom>
        </p:spPr>
        <p:txBody>
          <a:bodyPr lIns="0" tIns="0" rIns="0" bIns="0" rtlCol="0" anchor="t">
            <a:spAutoFit/>
          </a:bodyPr>
          <a:lstStyle/>
          <a:p>
            <a:pPr algn="ctr"/>
            <a:r>
              <a:rPr lang="en-US" sz="3200" b="1" dirty="0">
                <a:latin typeface="Times New Roman" panose="02020603050405020304" pitchFamily="18" charset="0"/>
                <a:ea typeface="League Spartan"/>
                <a:cs typeface="Times New Roman" panose="02020603050405020304" pitchFamily="18" charset="0"/>
                <a:sym typeface="League Spartan"/>
              </a:rPr>
              <a:t>SMART CROP DISEASE DETECTON AND ACTION </a:t>
            </a:r>
          </a:p>
        </p:txBody>
      </p:sp>
      <p:sp>
        <p:nvSpPr>
          <p:cNvPr id="7" name="TextBox 6">
            <a:extLst>
              <a:ext uri="{FF2B5EF4-FFF2-40B4-BE49-F238E27FC236}">
                <a16:creationId xmlns:a16="http://schemas.microsoft.com/office/drawing/2014/main" id="{2AA1DF1E-E474-3196-BEF0-5BCCCBBE90E4}"/>
              </a:ext>
            </a:extLst>
          </p:cNvPr>
          <p:cNvSpPr txBox="1"/>
          <p:nvPr/>
        </p:nvSpPr>
        <p:spPr>
          <a:xfrm>
            <a:off x="6345956" y="2776229"/>
            <a:ext cx="6756386" cy="1967205"/>
          </a:xfrm>
          <a:prstGeom prst="rect">
            <a:avLst/>
          </a:prstGeom>
        </p:spPr>
        <p:txBody>
          <a:bodyPr lIns="0" tIns="0" rIns="0" bIns="0" rtlCol="0" anchor="t">
            <a:spAutoFit/>
          </a:bodyPr>
          <a:lstStyle/>
          <a:p>
            <a:pPr algn="ctr">
              <a:lnSpc>
                <a:spcPts val="7940"/>
              </a:lnSpc>
            </a:pPr>
            <a:r>
              <a:rPr lang="en-US" sz="3200" b="1" dirty="0">
                <a:solidFill>
                  <a:srgbClr val="004AAD"/>
                </a:solidFill>
                <a:latin typeface="Times New Roman" panose="02020603050405020304" pitchFamily="18" charset="0"/>
                <a:ea typeface="League Spartan"/>
                <a:cs typeface="Times New Roman" panose="02020603050405020304" pitchFamily="18" charset="0"/>
                <a:sym typeface="League Spartan"/>
              </a:rPr>
              <a:t>Presented By</a:t>
            </a:r>
          </a:p>
          <a:p>
            <a:pPr algn="ctr">
              <a:lnSpc>
                <a:spcPct val="150000"/>
              </a:lnSpc>
            </a:pPr>
            <a:endParaRPr lang="en-US" sz="2000" b="1" dirty="0">
              <a:latin typeface="Times New Roman" panose="02020603050405020304" pitchFamily="18" charset="0"/>
              <a:ea typeface="League Spartan"/>
              <a:cs typeface="Times New Roman" panose="02020603050405020304" pitchFamily="18" charset="0"/>
              <a:sym typeface="League Spartan"/>
            </a:endParaRPr>
          </a:p>
          <a:p>
            <a:pPr algn="ctr"/>
            <a:endParaRPr lang="en-US" sz="3200" b="1" dirty="0">
              <a:solidFill>
                <a:srgbClr val="004AAD"/>
              </a:solidFill>
              <a:latin typeface="Times New Roman" panose="02020603050405020304" pitchFamily="18" charset="0"/>
              <a:ea typeface="League Spartan"/>
              <a:cs typeface="Times New Roman" panose="02020603050405020304" pitchFamily="18" charset="0"/>
              <a:sym typeface="League Spartan"/>
            </a:endParaRPr>
          </a:p>
        </p:txBody>
      </p:sp>
      <p:sp>
        <p:nvSpPr>
          <p:cNvPr id="8" name="TextBox 7">
            <a:extLst>
              <a:ext uri="{FF2B5EF4-FFF2-40B4-BE49-F238E27FC236}">
                <a16:creationId xmlns:a16="http://schemas.microsoft.com/office/drawing/2014/main" id="{A52748AD-97E0-B5BE-F96E-CE462A4B12FF}"/>
              </a:ext>
            </a:extLst>
          </p:cNvPr>
          <p:cNvSpPr txBox="1"/>
          <p:nvPr/>
        </p:nvSpPr>
        <p:spPr>
          <a:xfrm>
            <a:off x="-464781" y="3004270"/>
            <a:ext cx="5457818" cy="4424609"/>
          </a:xfrm>
          <a:prstGeom prst="rect">
            <a:avLst/>
          </a:prstGeom>
        </p:spPr>
        <p:txBody>
          <a:bodyPr wrap="square" lIns="0" tIns="0" rIns="0" bIns="0" rtlCol="0" anchor="t">
            <a:spAutoFit/>
          </a:bodyPr>
          <a:lstStyle/>
          <a:p>
            <a:pPr algn="ctr">
              <a:lnSpc>
                <a:spcPts val="7940"/>
              </a:lnSpc>
            </a:pPr>
            <a:r>
              <a:rPr lang="en-US" sz="3200" b="1" dirty="0">
                <a:solidFill>
                  <a:srgbClr val="004AAD"/>
                </a:solidFill>
                <a:latin typeface="Times New Roman" panose="02020603050405020304" pitchFamily="18" charset="0"/>
                <a:ea typeface="League Spartan"/>
                <a:cs typeface="Times New Roman" panose="02020603050405020304" pitchFamily="18" charset="0"/>
                <a:sym typeface="League Spartan"/>
              </a:rPr>
              <a:t>Guided By</a:t>
            </a:r>
          </a:p>
          <a:p>
            <a:endParaRPr lang="en-IN" dirty="0"/>
          </a:p>
          <a:p>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Mr.L.Ramesh</a:t>
            </a:r>
            <a:r>
              <a:rPr lang="en-US" sz="2000" b="1" dirty="0">
                <a:latin typeface="Times New Roman" panose="02020603050405020304" pitchFamily="18" charset="0"/>
                <a:cs typeface="Times New Roman" panose="02020603050405020304" pitchFamily="18" charset="0"/>
              </a:rPr>
              <a:t>, M.E., (</a:t>
            </a:r>
            <a:r>
              <a:rPr lang="en-US" sz="2000" b="1" dirty="0" err="1">
                <a:latin typeface="Times New Roman" panose="02020603050405020304" pitchFamily="18" charset="0"/>
                <a:cs typeface="Times New Roman" panose="02020603050405020304" pitchFamily="18" charset="0"/>
              </a:rPr>
              <a:t>Ph.D</a:t>
            </a:r>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a:p>
            <a:endParaRPr lang="en-IN" dirty="0"/>
          </a:p>
          <a:p>
            <a:r>
              <a:rPr lang="en-IN" sz="2000" b="1" dirty="0">
                <a:latin typeface="Times New Roman" panose="02020603050405020304" pitchFamily="18" charset="0"/>
                <a:cs typeface="Times New Roman" panose="02020603050405020304" pitchFamily="18" charset="0"/>
              </a:rPr>
              <a:t>	</a:t>
            </a:r>
          </a:p>
          <a:p>
            <a:pPr algn="ctr"/>
            <a:r>
              <a:rPr lang="en-IN" sz="2000" b="1" dirty="0">
                <a:latin typeface="Times New Roman" panose="02020603050405020304" pitchFamily="18" charset="0"/>
                <a:cs typeface="Times New Roman" panose="02020603050405020304" pitchFamily="18" charset="0"/>
              </a:rPr>
              <a:t>	</a:t>
            </a:r>
          </a:p>
          <a:p>
            <a:pPr algn="ctr">
              <a:lnSpc>
                <a:spcPts val="7940"/>
              </a:lnSpc>
            </a:pPr>
            <a:endParaRPr lang="en-US" sz="3200" b="1" dirty="0">
              <a:solidFill>
                <a:srgbClr val="004AAD"/>
              </a:solidFill>
              <a:latin typeface="Times New Roman" panose="02020603050405020304" pitchFamily="18" charset="0"/>
              <a:ea typeface="League Spartan"/>
              <a:cs typeface="Times New Roman" panose="02020603050405020304" pitchFamily="18" charset="0"/>
              <a:sym typeface="League Spartan"/>
            </a:endParaRPr>
          </a:p>
          <a:p>
            <a:pPr algn="ctr">
              <a:lnSpc>
                <a:spcPts val="7940"/>
              </a:lnSpc>
            </a:pPr>
            <a:endParaRPr lang="en-US" sz="5672" b="1" dirty="0">
              <a:solidFill>
                <a:srgbClr val="004AAD"/>
              </a:solidFill>
              <a:latin typeface="League Spartan"/>
              <a:ea typeface="League Spartan"/>
              <a:cs typeface="League Spartan"/>
              <a:sym typeface="League Spartan"/>
            </a:endParaRPr>
          </a:p>
        </p:txBody>
      </p:sp>
      <p:sp>
        <p:nvSpPr>
          <p:cNvPr id="2" name="TextBox 1">
            <a:extLst>
              <a:ext uri="{FF2B5EF4-FFF2-40B4-BE49-F238E27FC236}">
                <a16:creationId xmlns:a16="http://schemas.microsoft.com/office/drawing/2014/main" id="{ED896753-F9A7-BB6D-A2EE-978DDEB3E075}"/>
              </a:ext>
            </a:extLst>
          </p:cNvPr>
          <p:cNvSpPr txBox="1"/>
          <p:nvPr/>
        </p:nvSpPr>
        <p:spPr>
          <a:xfrm>
            <a:off x="8056632" y="3877683"/>
            <a:ext cx="5045710" cy="2031325"/>
          </a:xfrm>
          <a:prstGeom prst="rect">
            <a:avLst/>
          </a:prstGeom>
          <a:noFill/>
        </p:spPr>
        <p:txBody>
          <a:bodyPr wrap="square" rtlCol="0">
            <a:spAutoFit/>
          </a:bodyPr>
          <a:lstStyle/>
          <a:p>
            <a:pPr>
              <a:lnSpc>
                <a:spcPct val="150000"/>
              </a:lnSpc>
            </a:pPr>
            <a:r>
              <a:rPr lang="en-IN" b="1" dirty="0">
                <a:latin typeface="Times New Roman" panose="02020603050405020304" pitchFamily="18" charset="0"/>
                <a:cs typeface="Times New Roman" panose="02020603050405020304" pitchFamily="18" charset="0"/>
              </a:rPr>
              <a:t>CHANDIKA K   (927623BEC020)</a:t>
            </a:r>
          </a:p>
          <a:p>
            <a:pPr>
              <a:lnSpc>
                <a:spcPct val="150000"/>
              </a:lnSpc>
            </a:pPr>
            <a:r>
              <a:rPr lang="en-IN" b="1" dirty="0">
                <a:latin typeface="Times New Roman" panose="02020603050405020304" pitchFamily="18" charset="0"/>
                <a:cs typeface="Times New Roman" panose="02020603050405020304" pitchFamily="18" charset="0"/>
              </a:rPr>
              <a:t>DEEPIKA   S     (927623BEC023)</a:t>
            </a:r>
          </a:p>
          <a:p>
            <a:pPr>
              <a:lnSpc>
                <a:spcPct val="150000"/>
              </a:lnSpc>
            </a:pPr>
            <a:r>
              <a:rPr lang="en-IN" b="1" dirty="0">
                <a:latin typeface="Times New Roman" panose="02020603050405020304" pitchFamily="18" charset="0"/>
                <a:cs typeface="Times New Roman" panose="02020603050405020304" pitchFamily="18" charset="0"/>
              </a:rPr>
              <a:t>DEEPIKAA  V   (927623BEC024)</a:t>
            </a:r>
          </a:p>
          <a:p>
            <a:pPr>
              <a:lnSpc>
                <a:spcPct val="150000"/>
              </a:lnSpc>
            </a:pPr>
            <a:r>
              <a:rPr lang="en-IN" b="1" dirty="0">
                <a:latin typeface="Times New Roman" panose="02020603050405020304" pitchFamily="18" charset="0"/>
                <a:cs typeface="Times New Roman" panose="02020603050405020304" pitchFamily="18" charset="0"/>
              </a:rPr>
              <a:t>DHARANI  S     (927623BEC029)</a:t>
            </a:r>
          </a:p>
          <a:p>
            <a:endParaRPr lang="en-IN" dirty="0"/>
          </a:p>
        </p:txBody>
      </p:sp>
      <p:sp>
        <p:nvSpPr>
          <p:cNvPr id="3" name="Date Placeholder 2">
            <a:extLst>
              <a:ext uri="{FF2B5EF4-FFF2-40B4-BE49-F238E27FC236}">
                <a16:creationId xmlns:a16="http://schemas.microsoft.com/office/drawing/2014/main" id="{765FE102-D275-DC3A-EF9A-9F4D3F2DB329}"/>
              </a:ext>
            </a:extLst>
          </p:cNvPr>
          <p:cNvSpPr>
            <a:spLocks noGrp="1"/>
          </p:cNvSpPr>
          <p:nvPr>
            <p:ph type="dt" sz="half" idx="10"/>
          </p:nvPr>
        </p:nvSpPr>
        <p:spPr/>
        <p:txBody>
          <a:bodyPr/>
          <a:lstStyle/>
          <a:p>
            <a:fld id="{6A2233F3-BF35-47DD-9968-A139615E223A}" type="datetime1">
              <a:rPr lang="en-IN" smtClean="0"/>
              <a:t>19-12-2025</a:t>
            </a:fld>
            <a:endParaRPr lang="en-IN"/>
          </a:p>
        </p:txBody>
      </p:sp>
      <p:sp>
        <p:nvSpPr>
          <p:cNvPr id="9" name="Slide Number Placeholder 8">
            <a:extLst>
              <a:ext uri="{FF2B5EF4-FFF2-40B4-BE49-F238E27FC236}">
                <a16:creationId xmlns:a16="http://schemas.microsoft.com/office/drawing/2014/main" id="{6975A65B-49BA-0D30-4C98-4A3843C52900}"/>
              </a:ext>
            </a:extLst>
          </p:cNvPr>
          <p:cNvSpPr>
            <a:spLocks noGrp="1"/>
          </p:cNvSpPr>
          <p:nvPr>
            <p:ph type="sldNum" sz="quarter" idx="12"/>
          </p:nvPr>
        </p:nvSpPr>
        <p:spPr/>
        <p:txBody>
          <a:bodyPr/>
          <a:lstStyle/>
          <a:p>
            <a:fld id="{76349249-FC48-47B8-92FA-4330554B3729}" type="slidenum">
              <a:rPr lang="en-IN" smtClean="0"/>
              <a:t>1</a:t>
            </a:fld>
            <a:endParaRPr lang="en-IN"/>
          </a:p>
        </p:txBody>
      </p:sp>
    </p:spTree>
    <p:extLst>
      <p:ext uri="{BB962C8B-B14F-4D97-AF65-F5344CB8AC3E}">
        <p14:creationId xmlns:p14="http://schemas.microsoft.com/office/powerpoint/2010/main" val="2369434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271145" y="1127982"/>
            <a:ext cx="5576163" cy="461665"/>
          </a:xfrm>
          <a:prstGeom prst="rect">
            <a:avLst/>
          </a:prstGeom>
          <a:noFill/>
        </p:spPr>
        <p:txBody>
          <a:bodyPr wrap="square" rtlCol="0">
            <a:spAutoFit/>
          </a:bodyPr>
          <a:lstStyle/>
          <a:p>
            <a:pPr algn="just"/>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PROBLEM STATEMENT</a:t>
            </a:r>
          </a:p>
        </p:txBody>
      </p:sp>
      <p:pic>
        <p:nvPicPr>
          <p:cNvPr id="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0"/>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79889" y="170920"/>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59635" y="1694180"/>
            <a:ext cx="6176010" cy="3993515"/>
          </a:xfrm>
          <a:prstGeom prst="rect">
            <a:avLst/>
          </a:prstGeom>
          <a:noFill/>
        </p:spPr>
        <p:txBody>
          <a:bodyPr wrap="square">
            <a:noAutofit/>
          </a:bodyPr>
          <a:lstStyle/>
          <a:p>
            <a:pPr marL="0" indent="0" algn="just">
              <a:buNone/>
            </a:pPr>
            <a:r>
              <a:rPr lang="en-US" dirty="0"/>
              <a:t> 	</a:t>
            </a:r>
          </a:p>
          <a:p>
            <a:pPr algn="just">
              <a:lnSpc>
                <a:spcPct val="150000"/>
              </a:lnSpc>
            </a:pPr>
            <a:r>
              <a:rPr lang="en-US" sz="18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Farmers face major challenges in detecting crop diseases early because manual observation is slow, inaccurate, and dependent on experience. Environmental changes make timely diagnosis even harder. A smart system using sensors and AI is needed to monitor crop conditions continuously, identify diseases with high accuracy, and deliver early alerts and corrective actions to prevent large-scale yield loss.</a:t>
            </a:r>
            <a:endParaRPr lang="en-US" altLang="en-US"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E9A4DA0-B174-D595-5E20-478CB4906A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19257" y="1810407"/>
            <a:ext cx="4647794" cy="3388295"/>
          </a:xfrm>
          <a:prstGeom prst="rect">
            <a:avLst/>
          </a:prstGeom>
        </p:spPr>
      </p:pic>
      <p:sp>
        <p:nvSpPr>
          <p:cNvPr id="6" name="Date Placeholder 5">
            <a:extLst>
              <a:ext uri="{FF2B5EF4-FFF2-40B4-BE49-F238E27FC236}">
                <a16:creationId xmlns:a16="http://schemas.microsoft.com/office/drawing/2014/main" id="{D5A26738-9B14-8BD1-850C-F527CDBD3831}"/>
              </a:ext>
            </a:extLst>
          </p:cNvPr>
          <p:cNvSpPr>
            <a:spLocks noGrp="1"/>
          </p:cNvSpPr>
          <p:nvPr>
            <p:ph type="dt" sz="half" idx="10"/>
          </p:nvPr>
        </p:nvSpPr>
        <p:spPr/>
        <p:txBody>
          <a:bodyPr/>
          <a:lstStyle/>
          <a:p>
            <a:fld id="{41574083-04CF-4725-9131-048413EAB0CD}" type="datetime1">
              <a:rPr lang="en-IN" smtClean="0"/>
              <a:t>19-12-2025</a:t>
            </a:fld>
            <a:endParaRPr lang="en-IN"/>
          </a:p>
        </p:txBody>
      </p:sp>
      <p:sp>
        <p:nvSpPr>
          <p:cNvPr id="7" name="Slide Number Placeholder 6">
            <a:extLst>
              <a:ext uri="{FF2B5EF4-FFF2-40B4-BE49-F238E27FC236}">
                <a16:creationId xmlns:a16="http://schemas.microsoft.com/office/drawing/2014/main" id="{F13B581E-DD11-C3A5-829C-55BDFB4A716B}"/>
              </a:ext>
            </a:extLst>
          </p:cNvPr>
          <p:cNvSpPr>
            <a:spLocks noGrp="1"/>
          </p:cNvSpPr>
          <p:nvPr>
            <p:ph type="sldNum" sz="quarter" idx="12"/>
          </p:nvPr>
        </p:nvSpPr>
        <p:spPr/>
        <p:txBody>
          <a:bodyPr/>
          <a:lstStyle/>
          <a:p>
            <a:fld id="{76349249-FC48-47B8-92FA-4330554B3729}" type="slidenum">
              <a:rPr lang="en-IN" smtClean="0"/>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5AFB7-F62E-93E1-8838-060AB3AD0417}"/>
            </a:ext>
          </a:extLst>
        </p:cNvPr>
        <p:cNvGrpSpPr/>
        <p:nvPr/>
      </p:nvGrpSpPr>
      <p:grpSpPr>
        <a:xfrm>
          <a:off x="0" y="0"/>
          <a:ext cx="0" cy="0"/>
          <a:chOff x="0" y="0"/>
          <a:chExt cx="0" cy="0"/>
        </a:xfrm>
      </p:grpSpPr>
      <p:pic>
        <p:nvPicPr>
          <p:cNvPr id="2049" name="Picture 36" descr="Description: http://www.mkce.ac.in/wp-content/uploads/2018/02/footer-logo.png">
            <a:extLst>
              <a:ext uri="{FF2B5EF4-FFF2-40B4-BE49-F238E27FC236}">
                <a16:creationId xmlns:a16="http://schemas.microsoft.com/office/drawing/2014/main" id="{B50EDAFB-BF54-5266-20FB-FDF7D741DC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a:extLst>
              <a:ext uri="{FF2B5EF4-FFF2-40B4-BE49-F238E27FC236}">
                <a16:creationId xmlns:a16="http://schemas.microsoft.com/office/drawing/2014/main" id="{3AD3B6B2-4CBA-533F-8994-490D96923F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a:extLst>
              <a:ext uri="{FF2B5EF4-FFF2-40B4-BE49-F238E27FC236}">
                <a16:creationId xmlns:a16="http://schemas.microsoft.com/office/drawing/2014/main" id="{7BDB8B8B-C031-559E-473F-C201436891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62C16C7D-0CB2-1AF5-6C0C-77C853CFD1F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5">
            <a:extLst>
              <a:ext uri="{FF2B5EF4-FFF2-40B4-BE49-F238E27FC236}">
                <a16:creationId xmlns:a16="http://schemas.microsoft.com/office/drawing/2014/main" id="{DCA042DB-BB19-DFE5-58C8-54D6FFD8FD03}"/>
              </a:ext>
            </a:extLst>
          </p:cNvPr>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88D1A7EE-D5DE-18ED-C000-D1DD7C9D5BBE}"/>
              </a:ext>
            </a:extLst>
          </p:cNvPr>
          <p:cNvSpPr txBox="1"/>
          <p:nvPr/>
        </p:nvSpPr>
        <p:spPr>
          <a:xfrm>
            <a:off x="737419" y="982041"/>
            <a:ext cx="8259445" cy="924292"/>
          </a:xfrm>
          <a:prstGeom prst="rect">
            <a:avLst/>
          </a:prstGeom>
          <a:noFill/>
        </p:spPr>
        <p:txBody>
          <a:bodyPr wrap="square">
            <a:spAutoFit/>
          </a:bodyPr>
          <a:lstStyle/>
          <a:p>
            <a:pPr>
              <a:lnSpc>
                <a:spcPts val="7940"/>
              </a:lnSpc>
            </a:pPr>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OBJECTIVES</a:t>
            </a:r>
          </a:p>
        </p:txBody>
      </p:sp>
      <p:sp>
        <p:nvSpPr>
          <p:cNvPr id="2" name="TextBox 1">
            <a:extLst>
              <a:ext uri="{FF2B5EF4-FFF2-40B4-BE49-F238E27FC236}">
                <a16:creationId xmlns:a16="http://schemas.microsoft.com/office/drawing/2014/main" id="{DBD82737-15BC-D5B1-BCF3-F1CD394AD22B}"/>
              </a:ext>
            </a:extLst>
          </p:cNvPr>
          <p:cNvSpPr txBox="1"/>
          <p:nvPr/>
        </p:nvSpPr>
        <p:spPr>
          <a:xfrm>
            <a:off x="914399" y="2202425"/>
            <a:ext cx="10521132" cy="3277820"/>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Enable early detection of crop diseases using AI-based image analysis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 continuous monitoring of crop health through IoT sensors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 manual inspection effort by automating disease identification</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 safe pesticide usage by verifying expiry before spraying</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 crop yield through timely alerts and corrective actions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Minimize resource wastage in irrigation and spraying</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 farmers with real-time decision-making information</a:t>
            </a:r>
          </a:p>
          <a:p>
            <a:endParaRPr lang="en-IN" dirty="0"/>
          </a:p>
        </p:txBody>
      </p:sp>
    </p:spTree>
    <p:extLst>
      <p:ext uri="{BB962C8B-B14F-4D97-AF65-F5344CB8AC3E}">
        <p14:creationId xmlns:p14="http://schemas.microsoft.com/office/powerpoint/2010/main" val="21936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5AFB7-F62E-93E1-8838-060AB3AD0417}"/>
            </a:ext>
          </a:extLst>
        </p:cNvPr>
        <p:cNvGrpSpPr/>
        <p:nvPr/>
      </p:nvGrpSpPr>
      <p:grpSpPr>
        <a:xfrm>
          <a:off x="0" y="0"/>
          <a:ext cx="0" cy="0"/>
          <a:chOff x="0" y="0"/>
          <a:chExt cx="0" cy="0"/>
        </a:xfrm>
      </p:grpSpPr>
      <p:pic>
        <p:nvPicPr>
          <p:cNvPr id="2049" name="Picture 36" descr="Description: http://www.mkce.ac.in/wp-content/uploads/2018/02/footer-logo.png">
            <a:extLst>
              <a:ext uri="{FF2B5EF4-FFF2-40B4-BE49-F238E27FC236}">
                <a16:creationId xmlns:a16="http://schemas.microsoft.com/office/drawing/2014/main" id="{B50EDAFB-BF54-5266-20FB-FDF7D741DC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a:extLst>
              <a:ext uri="{FF2B5EF4-FFF2-40B4-BE49-F238E27FC236}">
                <a16:creationId xmlns:a16="http://schemas.microsoft.com/office/drawing/2014/main" id="{3AD3B6B2-4CBA-533F-8994-490D96923F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a:extLst>
              <a:ext uri="{FF2B5EF4-FFF2-40B4-BE49-F238E27FC236}">
                <a16:creationId xmlns:a16="http://schemas.microsoft.com/office/drawing/2014/main" id="{7BDB8B8B-C031-559E-473F-C201436891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62C16C7D-0CB2-1AF5-6C0C-77C853CFD1F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5">
            <a:extLst>
              <a:ext uri="{FF2B5EF4-FFF2-40B4-BE49-F238E27FC236}">
                <a16:creationId xmlns:a16="http://schemas.microsoft.com/office/drawing/2014/main" id="{DCA042DB-BB19-DFE5-58C8-54D6FFD8FD03}"/>
              </a:ext>
            </a:extLst>
          </p:cNvPr>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88D1A7EE-D5DE-18ED-C000-D1DD7C9D5BBE}"/>
              </a:ext>
            </a:extLst>
          </p:cNvPr>
          <p:cNvSpPr txBox="1"/>
          <p:nvPr/>
        </p:nvSpPr>
        <p:spPr>
          <a:xfrm>
            <a:off x="530225" y="933077"/>
            <a:ext cx="8259445" cy="924292"/>
          </a:xfrm>
          <a:prstGeom prst="rect">
            <a:avLst/>
          </a:prstGeom>
          <a:noFill/>
        </p:spPr>
        <p:txBody>
          <a:bodyPr wrap="square">
            <a:spAutoFit/>
          </a:bodyPr>
          <a:lstStyle/>
          <a:p>
            <a:pPr>
              <a:lnSpc>
                <a:spcPts val="7940"/>
              </a:lnSpc>
            </a:pPr>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SCOPE OF THE PROJECT</a:t>
            </a:r>
          </a:p>
        </p:txBody>
      </p:sp>
      <p:sp>
        <p:nvSpPr>
          <p:cNvPr id="2" name="TextBox 1">
            <a:extLst>
              <a:ext uri="{FF2B5EF4-FFF2-40B4-BE49-F238E27FC236}">
                <a16:creationId xmlns:a16="http://schemas.microsoft.com/office/drawing/2014/main" id="{414C2B18-D236-2BBB-6B6E-3EC6B0911BCC}"/>
              </a:ext>
            </a:extLst>
          </p:cNvPr>
          <p:cNvSpPr txBox="1"/>
          <p:nvPr/>
        </p:nvSpPr>
        <p:spPr>
          <a:xfrm>
            <a:off x="805937" y="2084439"/>
            <a:ext cx="10580125" cy="3277820"/>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Covers real-time sensing of temperature, humidity, soil moisture, and light</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Includes image-based disease classification using a lightweight CNN model</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Integrates automated spraying, irrigation, and alert notification systems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Operates through IoT connectivity for remote monitoring and data logging</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historical data records for trend analysis and future planning</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multiple crop types with scalable sensor and AI modules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Applicable for small farms, large fields, and greenhouse environments</a:t>
            </a:r>
          </a:p>
          <a:p>
            <a:endParaRPr lang="en-IN" dirty="0"/>
          </a:p>
        </p:txBody>
      </p:sp>
    </p:spTree>
    <p:extLst>
      <p:ext uri="{BB962C8B-B14F-4D97-AF65-F5344CB8AC3E}">
        <p14:creationId xmlns:p14="http://schemas.microsoft.com/office/powerpoint/2010/main" val="368663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3"/>
          <p:cNvSpPr txBox="1"/>
          <p:nvPr/>
        </p:nvSpPr>
        <p:spPr>
          <a:xfrm>
            <a:off x="410955" y="1250650"/>
            <a:ext cx="4324350" cy="385445"/>
          </a:xfrm>
          <a:prstGeom prst="rect">
            <a:avLst/>
          </a:prstGeom>
          <a:noFill/>
        </p:spPr>
        <p:txBody>
          <a:bodyPr wrap="square" rtlCol="0">
            <a:noAutofit/>
          </a:bodyPr>
          <a:lstStyle/>
          <a:p>
            <a:r>
              <a:rPr lang="en-US" sz="2400" b="1" dirty="0">
                <a:solidFill>
                  <a:srgbClr val="FF0000"/>
                </a:solidFill>
                <a:latin typeface="Times New Roman" panose="02020603050405020304" pitchFamily="18" charset="0"/>
                <a:cs typeface="Times New Roman" panose="02020603050405020304" pitchFamily="18" charset="0"/>
                <a:sym typeface="+mn-ea"/>
              </a:rPr>
              <a:t>EXISTING SYSTEM</a:t>
            </a:r>
            <a:endParaRPr lang="en-US" sz="2400" dirty="0"/>
          </a:p>
        </p:txBody>
      </p:sp>
      <p:sp>
        <p:nvSpPr>
          <p:cNvPr id="7" name="Text Box 6"/>
          <p:cNvSpPr txBox="1"/>
          <p:nvPr/>
        </p:nvSpPr>
        <p:spPr>
          <a:xfrm>
            <a:off x="782945" y="1799120"/>
            <a:ext cx="11104655" cy="3259760"/>
          </a:xfrm>
          <a:prstGeom prst="rect">
            <a:avLst/>
          </a:prstGeom>
          <a:noFill/>
        </p:spPr>
        <p:txBody>
          <a:bodyPr wrap="square" rtlCol="0">
            <a:noAutofit/>
          </a:bodyPr>
          <a:lstStyle/>
          <a:p>
            <a:pPr marL="285750" indent="-285750" algn="just">
              <a:lnSpc>
                <a:spcPct val="150000"/>
              </a:lnSpc>
              <a:buFont typeface="Wingdings" panose="05000000000000000000" charset="0"/>
              <a:buChar char=""/>
            </a:pPr>
            <a:r>
              <a:rPr lang="en-US" dirty="0">
                <a:latin typeface="Times New Roman" panose="02020603050405020304" pitchFamily="18" charset="0"/>
                <a:cs typeface="Times New Roman" panose="02020603050405020304" pitchFamily="18" charset="0"/>
              </a:rPr>
              <a:t>Manual crop inspection is time-consuming and often inaccurate.</a:t>
            </a:r>
          </a:p>
          <a:p>
            <a:pPr marL="285750" indent="-285750" algn="just">
              <a:lnSpc>
                <a:spcPct val="150000"/>
              </a:lnSpc>
              <a:buFont typeface="Wingdings" panose="05000000000000000000" charset="0"/>
              <a:buChar char=""/>
            </a:pPr>
            <a:r>
              <a:rPr lang="en-US" dirty="0">
                <a:latin typeface="Times New Roman" panose="02020603050405020304" pitchFamily="18" charset="0"/>
                <a:cs typeface="Times New Roman" panose="02020603050405020304" pitchFamily="18" charset="0"/>
              </a:rPr>
              <a:t>Farmers rely on experience, delaying early disease detection.</a:t>
            </a:r>
          </a:p>
          <a:p>
            <a:pPr marL="285750" indent="-285750" algn="just">
              <a:lnSpc>
                <a:spcPct val="150000"/>
              </a:lnSpc>
              <a:buFont typeface="Wingdings" panose="05000000000000000000" charset="0"/>
              <a:buChar char=""/>
            </a:pPr>
            <a:r>
              <a:rPr lang="en-US" dirty="0">
                <a:latin typeface="Times New Roman" panose="02020603050405020304" pitchFamily="18" charset="0"/>
                <a:cs typeface="Times New Roman" panose="02020603050405020304" pitchFamily="18" charset="0"/>
              </a:rPr>
              <a:t>Some systems use only image processing for disease detection.</a:t>
            </a:r>
          </a:p>
          <a:p>
            <a:pPr marL="285750" indent="-285750" algn="just">
              <a:lnSpc>
                <a:spcPct val="150000"/>
              </a:lnSpc>
              <a:buFont typeface="Wingdings" panose="05000000000000000000" charset="0"/>
              <a:buChar char=""/>
            </a:pPr>
            <a:r>
              <a:rPr lang="en-US" dirty="0">
                <a:latin typeface="Times New Roman" panose="02020603050405020304" pitchFamily="18" charset="0"/>
                <a:cs typeface="Times New Roman" panose="02020603050405020304" pitchFamily="18" charset="0"/>
              </a:rPr>
              <a:t>IoT sensors monitor environment but lack AI decision support.</a:t>
            </a:r>
          </a:p>
          <a:p>
            <a:pPr marL="285750" indent="-285750" algn="just">
              <a:lnSpc>
                <a:spcPct val="150000"/>
              </a:lnSpc>
              <a:buFont typeface="Wingdings" panose="05000000000000000000" charset="0"/>
              <a:buChar char=""/>
            </a:pPr>
            <a:r>
              <a:rPr lang="en-US" dirty="0">
                <a:latin typeface="Times New Roman" panose="02020603050405020304" pitchFamily="18" charset="0"/>
                <a:cs typeface="Times New Roman" panose="02020603050405020304" pitchFamily="18" charset="0"/>
              </a:rPr>
              <a:t>Traditional spraying applies chemicals uniformly, wasting resources unnecessarily.</a:t>
            </a:r>
          </a:p>
          <a:p>
            <a:pPr marL="285750" indent="-285750" algn="just">
              <a:lnSpc>
                <a:spcPct val="150000"/>
              </a:lnSpc>
              <a:buFont typeface="Wingdings" panose="05000000000000000000" charset="0"/>
              <a:buChar char=""/>
            </a:pPr>
            <a:r>
              <a:rPr lang="en-US" dirty="0">
                <a:latin typeface="Times New Roman" panose="02020603050405020304" pitchFamily="18" charset="0"/>
                <a:cs typeface="Times New Roman" panose="02020603050405020304" pitchFamily="18" charset="0"/>
              </a:rPr>
              <a:t>Mobile apps exist but provide limited real-time actionable recommendations.</a:t>
            </a:r>
          </a:p>
          <a:p>
            <a:pPr marL="285750" indent="-285750" algn="just">
              <a:lnSpc>
                <a:spcPct val="150000"/>
              </a:lnSpc>
              <a:buFont typeface="Wingdings" panose="05000000000000000000" charset="0"/>
              <a:buChar char=""/>
            </a:pPr>
            <a:r>
              <a:rPr lang="en-US" dirty="0">
                <a:latin typeface="Times New Roman" panose="02020603050405020304" pitchFamily="18" charset="0"/>
                <a:cs typeface="Times New Roman" panose="02020603050405020304" pitchFamily="18" charset="0"/>
              </a:rPr>
              <a:t> Historical data analysis is rarely integrated into existing systems.</a:t>
            </a:r>
          </a:p>
        </p:txBody>
      </p:sp>
      <p:sp>
        <p:nvSpPr>
          <p:cNvPr id="5" name="Date Placeholder 4">
            <a:extLst>
              <a:ext uri="{FF2B5EF4-FFF2-40B4-BE49-F238E27FC236}">
                <a16:creationId xmlns:a16="http://schemas.microsoft.com/office/drawing/2014/main" id="{A9E6EA6F-F77D-2DDD-77C4-B9A89E79555B}"/>
              </a:ext>
            </a:extLst>
          </p:cNvPr>
          <p:cNvSpPr>
            <a:spLocks noGrp="1"/>
          </p:cNvSpPr>
          <p:nvPr>
            <p:ph type="dt" sz="half" idx="10"/>
          </p:nvPr>
        </p:nvSpPr>
        <p:spPr/>
        <p:txBody>
          <a:bodyPr/>
          <a:lstStyle/>
          <a:p>
            <a:fld id="{557A11F0-2654-4C93-BE7A-9403790AC753}" type="datetime1">
              <a:rPr lang="en-IN" smtClean="0"/>
              <a:t>19-12-2025</a:t>
            </a:fld>
            <a:endParaRPr lang="en-IN"/>
          </a:p>
        </p:txBody>
      </p:sp>
      <p:sp>
        <p:nvSpPr>
          <p:cNvPr id="8" name="Slide Number Placeholder 7">
            <a:extLst>
              <a:ext uri="{FF2B5EF4-FFF2-40B4-BE49-F238E27FC236}">
                <a16:creationId xmlns:a16="http://schemas.microsoft.com/office/drawing/2014/main" id="{A5CEDBF0-D724-9C8E-A75F-1FB32DBA820E}"/>
              </a:ext>
            </a:extLst>
          </p:cNvPr>
          <p:cNvSpPr>
            <a:spLocks noGrp="1"/>
          </p:cNvSpPr>
          <p:nvPr>
            <p:ph type="sldNum" sz="quarter" idx="12"/>
          </p:nvPr>
        </p:nvSpPr>
        <p:spPr/>
        <p:txBody>
          <a:bodyPr/>
          <a:lstStyle/>
          <a:p>
            <a:fld id="{76349249-FC48-47B8-92FA-4330554B3729}" type="slidenum">
              <a:rPr lang="en-IN" smtClean="0"/>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8" name="Text Box 7"/>
          <p:cNvSpPr txBox="1"/>
          <p:nvPr/>
        </p:nvSpPr>
        <p:spPr>
          <a:xfrm>
            <a:off x="8353670" y="4559812"/>
            <a:ext cx="3917367" cy="1727267"/>
          </a:xfrm>
          <a:prstGeom prst="rect">
            <a:avLst/>
          </a:prstGeom>
        </p:spPr>
        <p:txBody>
          <a:bodyPr wrap="square">
            <a:noAutofit/>
          </a:bodyPr>
          <a:lstStyle/>
          <a:p>
            <a:pPr marL="285750" indent="-285750">
              <a:buFont typeface="Wingdings" panose="05000000000000000000" charset="0"/>
              <a:buChar char=""/>
            </a:pPr>
            <a:endParaRPr sz="1600" dirty="0"/>
          </a:p>
        </p:txBody>
      </p:sp>
      <p:sp>
        <p:nvSpPr>
          <p:cNvPr id="10" name="Text Box 9"/>
          <p:cNvSpPr txBox="1"/>
          <p:nvPr/>
        </p:nvSpPr>
        <p:spPr>
          <a:xfrm>
            <a:off x="2913380" y="642620"/>
            <a:ext cx="2493010" cy="1007745"/>
          </a:xfrm>
          <a:prstGeom prst="rect">
            <a:avLst/>
          </a:prstGeom>
          <a:noFill/>
        </p:spPr>
        <p:txBody>
          <a:bodyPr wrap="square" rtlCol="0">
            <a:noAutofit/>
          </a:bodyPr>
          <a:lstStyle/>
          <a:p>
            <a:endParaRPr lang="en-US"/>
          </a:p>
        </p:txBody>
      </p:sp>
      <p:sp>
        <p:nvSpPr>
          <p:cNvPr id="11" name="Text Box 10"/>
          <p:cNvSpPr txBox="1"/>
          <p:nvPr/>
        </p:nvSpPr>
        <p:spPr>
          <a:xfrm>
            <a:off x="-238064" y="1121359"/>
            <a:ext cx="3902567" cy="456565"/>
          </a:xfrm>
          <a:prstGeom prst="rect">
            <a:avLst/>
          </a:prstGeom>
          <a:noFill/>
        </p:spPr>
        <p:txBody>
          <a:bodyPr wrap="square" rtlCol="0" anchor="t">
            <a:noAutofit/>
          </a:bodyPr>
          <a:lstStyle/>
          <a:p>
            <a:r>
              <a:rPr lang="en-US" sz="2400" b="1" dirty="0">
                <a:solidFill>
                  <a:srgbClr val="FF0000"/>
                </a:solidFill>
                <a:latin typeface="Times New Roman" panose="02020603050405020304" pitchFamily="18" charset="0"/>
                <a:cs typeface="Times New Roman" panose="02020603050405020304" pitchFamily="18" charset="0"/>
                <a:sym typeface="+mn-ea"/>
              </a:rPr>
              <a:t>        PROPOSED SYSTEM </a:t>
            </a:r>
          </a:p>
        </p:txBody>
      </p:sp>
      <p:sp>
        <p:nvSpPr>
          <p:cNvPr id="4" name="Date Placeholder 3">
            <a:extLst>
              <a:ext uri="{FF2B5EF4-FFF2-40B4-BE49-F238E27FC236}">
                <a16:creationId xmlns:a16="http://schemas.microsoft.com/office/drawing/2014/main" id="{E11CE7CF-E05B-328A-54E6-FCC4BBFBE7B3}"/>
              </a:ext>
            </a:extLst>
          </p:cNvPr>
          <p:cNvSpPr>
            <a:spLocks noGrp="1"/>
          </p:cNvSpPr>
          <p:nvPr>
            <p:ph type="dt" sz="half" idx="10"/>
          </p:nvPr>
        </p:nvSpPr>
        <p:spPr/>
        <p:txBody>
          <a:bodyPr/>
          <a:lstStyle/>
          <a:p>
            <a:fld id="{606A2EF6-408D-4271-AA81-E4AD3AD6D3CD}" type="datetime1">
              <a:rPr lang="en-IN" smtClean="0"/>
              <a:t>19-12-2025</a:t>
            </a:fld>
            <a:endParaRPr lang="en-IN"/>
          </a:p>
        </p:txBody>
      </p:sp>
      <p:sp>
        <p:nvSpPr>
          <p:cNvPr id="9" name="Slide Number Placeholder 8">
            <a:extLst>
              <a:ext uri="{FF2B5EF4-FFF2-40B4-BE49-F238E27FC236}">
                <a16:creationId xmlns:a16="http://schemas.microsoft.com/office/drawing/2014/main" id="{5D1C677E-C4CE-27E1-3FA0-5439F7669284}"/>
              </a:ext>
            </a:extLst>
          </p:cNvPr>
          <p:cNvSpPr>
            <a:spLocks noGrp="1"/>
          </p:cNvSpPr>
          <p:nvPr>
            <p:ph type="sldNum" sz="quarter" idx="12"/>
          </p:nvPr>
        </p:nvSpPr>
        <p:spPr/>
        <p:txBody>
          <a:bodyPr/>
          <a:lstStyle/>
          <a:p>
            <a:fld id="{76349249-FC48-47B8-92FA-4330554B3729}" type="slidenum">
              <a:rPr lang="en-IN" smtClean="0"/>
              <a:t>6</a:t>
            </a:fld>
            <a:endParaRPr lang="en-IN"/>
          </a:p>
        </p:txBody>
      </p:sp>
      <p:sp>
        <p:nvSpPr>
          <p:cNvPr id="12" name="Rectangle 1">
            <a:extLst>
              <a:ext uri="{FF2B5EF4-FFF2-40B4-BE49-F238E27FC236}">
                <a16:creationId xmlns:a16="http://schemas.microsoft.com/office/drawing/2014/main" id="{80D1B4AE-97F1-1FE4-E775-FE4C753774DF}"/>
              </a:ext>
            </a:extLst>
          </p:cNvPr>
          <p:cNvSpPr>
            <a:spLocks noChangeArrowheads="1"/>
          </p:cNvSpPr>
          <p:nvPr/>
        </p:nvSpPr>
        <p:spPr bwMode="auto">
          <a:xfrm rot="10800000">
            <a:off x="1012829" y="6921224"/>
            <a:ext cx="934781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3" name="Rectangle 2">
            <a:extLst>
              <a:ext uri="{FF2B5EF4-FFF2-40B4-BE49-F238E27FC236}">
                <a16:creationId xmlns:a16="http://schemas.microsoft.com/office/drawing/2014/main" id="{2735D3F0-E649-2FEE-C3AE-75E58FB0A550}"/>
              </a:ext>
            </a:extLst>
          </p:cNvPr>
          <p:cNvSpPr>
            <a:spLocks noChangeArrowheads="1"/>
          </p:cNvSpPr>
          <p:nvPr/>
        </p:nvSpPr>
        <p:spPr bwMode="auto">
          <a:xfrm>
            <a:off x="571612" y="1670031"/>
            <a:ext cx="10511603" cy="4196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network of environmental sensors continuously measures temperature, humidity, soil moisture, and light intensity to monitor crop conditions in real time.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camera module captures leaf images, which are processed by a lightweight CNN model for high-accuracy disease classification.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verifies pesticide expiry and automatically triggers the sprayer or irrigation pump based on disease detection or low soil moisture.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 sensor data, image results, and system actions are logged to the cloud for real-time alerts and farmer notifications.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platform enables automated decision-making, reducing manual intervention and improving crop protection efficiency.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3"/>
          <p:cNvSpPr txBox="1"/>
          <p:nvPr/>
        </p:nvSpPr>
        <p:spPr>
          <a:xfrm>
            <a:off x="410845" y="1185545"/>
            <a:ext cx="4948555" cy="471805"/>
          </a:xfrm>
          <a:prstGeom prst="rect">
            <a:avLst/>
          </a:prstGeom>
          <a:noFill/>
        </p:spPr>
        <p:txBody>
          <a:bodyPr wrap="square" rtlCol="0" anchor="t">
            <a:noAutofit/>
          </a:bodyPr>
          <a:lstStyle/>
          <a:p>
            <a:r>
              <a:rPr lang="en-US" sz="2400" b="1">
                <a:solidFill>
                  <a:srgbClr val="FF0000"/>
                </a:solidFill>
                <a:latin typeface="Times New Roman" panose="02020603050405020304" pitchFamily="18" charset="0"/>
                <a:cs typeface="Times New Roman" panose="02020603050405020304" pitchFamily="18" charset="0"/>
                <a:sym typeface="+mn-ea"/>
              </a:rPr>
              <a:t>LITERATURE SURVEY</a:t>
            </a:r>
          </a:p>
        </p:txBody>
      </p:sp>
      <p:graphicFrame>
        <p:nvGraphicFramePr>
          <p:cNvPr id="9" name="Table 8"/>
          <p:cNvGraphicFramePr/>
          <p:nvPr>
            <p:custDataLst>
              <p:tags r:id="rId1"/>
            </p:custDataLst>
            <p:extLst>
              <p:ext uri="{D42A27DB-BD31-4B8C-83A1-F6EECF244321}">
                <p14:modId xmlns:p14="http://schemas.microsoft.com/office/powerpoint/2010/main" val="730173410"/>
              </p:ext>
            </p:extLst>
          </p:nvPr>
        </p:nvGraphicFramePr>
        <p:xfrm>
          <a:off x="768350" y="1573161"/>
          <a:ext cx="10664825" cy="4943660"/>
        </p:xfrm>
        <a:graphic>
          <a:graphicData uri="http://schemas.openxmlformats.org/drawingml/2006/table">
            <a:tbl>
              <a:tblPr firstRow="1" bandRow="1">
                <a:tableStyleId>{5C22544A-7EE6-4342-B048-85BDC9FD1C3A}</a:tableStyleId>
              </a:tblPr>
              <a:tblGrid>
                <a:gridCol w="715010">
                  <a:extLst>
                    <a:ext uri="{9D8B030D-6E8A-4147-A177-3AD203B41FA5}">
                      <a16:colId xmlns:a16="http://schemas.microsoft.com/office/drawing/2014/main" val="20000"/>
                    </a:ext>
                  </a:extLst>
                </a:gridCol>
                <a:gridCol w="1593215">
                  <a:extLst>
                    <a:ext uri="{9D8B030D-6E8A-4147-A177-3AD203B41FA5}">
                      <a16:colId xmlns:a16="http://schemas.microsoft.com/office/drawing/2014/main" val="20001"/>
                    </a:ext>
                  </a:extLst>
                </a:gridCol>
                <a:gridCol w="2518410">
                  <a:extLst>
                    <a:ext uri="{9D8B030D-6E8A-4147-A177-3AD203B41FA5}">
                      <a16:colId xmlns:a16="http://schemas.microsoft.com/office/drawing/2014/main" val="20002"/>
                    </a:ext>
                  </a:extLst>
                </a:gridCol>
                <a:gridCol w="889000">
                  <a:extLst>
                    <a:ext uri="{9D8B030D-6E8A-4147-A177-3AD203B41FA5}">
                      <a16:colId xmlns:a16="http://schemas.microsoft.com/office/drawing/2014/main" val="20003"/>
                    </a:ext>
                  </a:extLst>
                </a:gridCol>
                <a:gridCol w="4949190">
                  <a:extLst>
                    <a:ext uri="{9D8B030D-6E8A-4147-A177-3AD203B41FA5}">
                      <a16:colId xmlns:a16="http://schemas.microsoft.com/office/drawing/2014/main" val="20004"/>
                    </a:ext>
                  </a:extLst>
                </a:gridCol>
              </a:tblGrid>
              <a:tr h="432620">
                <a:tc>
                  <a:txBody>
                    <a:bodyPr/>
                    <a:lstStyle/>
                    <a:p>
                      <a:pPr>
                        <a:buNone/>
                      </a:pPr>
                      <a:r>
                        <a:rPr lang="en-US"/>
                        <a:t>S.NO</a:t>
                      </a:r>
                    </a:p>
                  </a:txBody>
                  <a:tcPr/>
                </a:tc>
                <a:tc>
                  <a:txBody>
                    <a:bodyPr/>
                    <a:lstStyle/>
                    <a:p>
                      <a:pPr>
                        <a:buNone/>
                      </a:pPr>
                      <a:r>
                        <a:rPr lang="en-US"/>
                        <a:t>AUTHOR</a:t>
                      </a:r>
                    </a:p>
                  </a:txBody>
                  <a:tcPr/>
                </a:tc>
                <a:tc>
                  <a:txBody>
                    <a:bodyPr/>
                    <a:lstStyle/>
                    <a:p>
                      <a:pPr>
                        <a:buNone/>
                      </a:pPr>
                      <a:r>
                        <a:rPr lang="en-US"/>
                        <a:t>TITLE</a:t>
                      </a:r>
                    </a:p>
                  </a:txBody>
                  <a:tcPr/>
                </a:tc>
                <a:tc>
                  <a:txBody>
                    <a:bodyPr/>
                    <a:lstStyle/>
                    <a:p>
                      <a:pPr>
                        <a:buNone/>
                      </a:pPr>
                      <a:r>
                        <a:rPr lang="en-US" dirty="0"/>
                        <a:t>YEAR</a:t>
                      </a:r>
                    </a:p>
                  </a:txBody>
                  <a:tcPr/>
                </a:tc>
                <a:tc>
                  <a:txBody>
                    <a:bodyPr/>
                    <a:lstStyle/>
                    <a:p>
                      <a:pPr>
                        <a:buNone/>
                      </a:pPr>
                      <a:r>
                        <a:rPr lang="en-US" dirty="0"/>
                        <a:t>REMARKS</a:t>
                      </a:r>
                    </a:p>
                  </a:txBody>
                  <a:tcPr/>
                </a:tc>
                <a:extLst>
                  <a:ext uri="{0D108BD9-81ED-4DB2-BD59-A6C34878D82A}">
                    <a16:rowId xmlns:a16="http://schemas.microsoft.com/office/drawing/2014/main" val="10000"/>
                  </a:ext>
                </a:extLst>
              </a:tr>
              <a:tr h="1016643">
                <a:tc>
                  <a:txBody>
                    <a:bodyPr/>
                    <a:lstStyle/>
                    <a:p>
                      <a:pPr>
                        <a:buNone/>
                      </a:pPr>
                      <a:r>
                        <a:rPr lang="en-US" sz="1600">
                          <a:latin typeface="Times New Roman" panose="02020603050405020304" pitchFamily="18" charset="0"/>
                          <a:cs typeface="Times New Roman" panose="02020603050405020304" pitchFamily="18" charset="0"/>
                        </a:rPr>
                        <a:t>[1]</a:t>
                      </a:r>
                    </a:p>
                  </a:txBody>
                  <a:tcPr/>
                </a:tc>
                <a:tc>
                  <a:txBody>
                    <a:bodyPr/>
                    <a:lstStyle/>
                    <a:p>
                      <a:r>
                        <a:rPr lang="en-US" sz="1600" dirty="0"/>
                        <a:t> </a:t>
                      </a:r>
                      <a:r>
                        <a:rPr lang="en-US" sz="1600" dirty="0">
                          <a:latin typeface="Times New Roman Regular" panose="02020603050405020304" charset="0"/>
                          <a:cs typeface="Times New Roman Regular" panose="02020603050405020304" charset="0"/>
                        </a:rPr>
                        <a:t> P. Gupta </a:t>
                      </a:r>
                      <a:endParaRPr sz="1600" dirty="0">
                        <a:latin typeface="Times New Roman Regular" panose="02020603050405020304" charset="0"/>
                        <a:cs typeface="Times New Roman Regular" panose="02020603050405020304" charset="0"/>
                      </a:endParaRPr>
                    </a:p>
                  </a:txBody>
                  <a:tcPr marL="0" marR="0" marT="0" marB="0" anchor="ctr"/>
                </a:tc>
                <a:tc>
                  <a:txBody>
                    <a:bodyPr/>
                    <a:lstStyle/>
                    <a:p>
                      <a:pPr>
                        <a:buNone/>
                      </a:pPr>
                      <a:r>
                        <a:rPr lang="en-US" altLang="en-US" sz="1600" dirty="0">
                          <a:latin typeface="Times New Roman" panose="02020603050405020304" pitchFamily="18" charset="0"/>
                          <a:cs typeface="Times New Roman" panose="02020603050405020304" pitchFamily="18" charset="0"/>
                        </a:rPr>
                        <a:t>Deep Learning for Real-Time Plant Disease Diagnosis</a:t>
                      </a:r>
                    </a:p>
                  </a:txBody>
                  <a:tcPr/>
                </a:tc>
                <a:tc>
                  <a:txBody>
                    <a:bodyPr/>
                    <a:lstStyle/>
                    <a:p>
                      <a:pPr>
                        <a:buNone/>
                      </a:pPr>
                      <a:r>
                        <a:rPr lang="en-US" altLang="en-US" sz="1600" dirty="0">
                          <a:latin typeface="Times New Roman" panose="02020603050405020304" pitchFamily="18" charset="0"/>
                          <a:cs typeface="Times New Roman" panose="02020603050405020304" pitchFamily="18" charset="0"/>
                        </a:rPr>
                        <a:t>2021</a:t>
                      </a:r>
                    </a:p>
                  </a:txBody>
                  <a:tcPr/>
                </a:tc>
                <a:tc>
                  <a:txBody>
                    <a:bodyPr/>
                    <a:lstStyle/>
                    <a:p>
                      <a:pPr algn="just">
                        <a:buNone/>
                      </a:pPr>
                      <a:r>
                        <a:rPr lang="en-US" altLang="en-US" sz="1600" dirty="0">
                          <a:latin typeface="Times New Roman" panose="02020603050405020304" pitchFamily="18" charset="0"/>
                          <a:cs typeface="Times New Roman" panose="02020603050405020304" pitchFamily="18" charset="0"/>
                        </a:rPr>
                        <a:t>Explains the evolution of Convolutional Neural Networks (CNNs) for identifying various crop diseases from leaf images, detailing how high-accuracy models improve diagnostic speed and efficiency in the field.</a:t>
                      </a:r>
                    </a:p>
                  </a:txBody>
                  <a:tcPr/>
                </a:tc>
                <a:extLst>
                  <a:ext uri="{0D108BD9-81ED-4DB2-BD59-A6C34878D82A}">
                    <a16:rowId xmlns:a16="http://schemas.microsoft.com/office/drawing/2014/main" val="10001"/>
                  </a:ext>
                </a:extLst>
              </a:tr>
              <a:tr h="1016643">
                <a:tc>
                  <a:txBody>
                    <a:bodyPr/>
                    <a:lstStyle/>
                    <a:p>
                      <a:pPr algn="just">
                        <a:buNone/>
                      </a:pPr>
                      <a:r>
                        <a:rPr lang="en-US" sz="1600">
                          <a:latin typeface="Times New Roman" panose="02020603050405020304" pitchFamily="18" charset="0"/>
                          <a:cs typeface="Times New Roman" panose="02020603050405020304" pitchFamily="18" charset="0"/>
                        </a:rPr>
                        <a:t>[2]</a:t>
                      </a:r>
                    </a:p>
                  </a:txBody>
                  <a:tcPr/>
                </a:tc>
                <a:tc>
                  <a:txBody>
                    <a:bodyPr/>
                    <a:lstStyle/>
                    <a:p>
                      <a:pPr algn="just">
                        <a:buNone/>
                      </a:pPr>
                      <a:r>
                        <a:rPr lang="en-US" altLang="en-US" sz="1600" dirty="0">
                          <a:latin typeface="Times New Roman" panose="02020603050405020304" pitchFamily="18" charset="0"/>
                          <a:cs typeface="Times New Roman" panose="02020603050405020304" pitchFamily="18" charset="0"/>
                        </a:rPr>
                        <a:t>S. Khan</a:t>
                      </a:r>
                    </a:p>
                  </a:txBody>
                  <a:tcPr/>
                </a:tc>
                <a:tc>
                  <a:txBody>
                    <a:bodyPr/>
                    <a:lstStyle/>
                    <a:p>
                      <a:pPr algn="just">
                        <a:buNone/>
                      </a:pPr>
                      <a:r>
                        <a:rPr lang="en-US" altLang="en-US" sz="1600" dirty="0">
                          <a:latin typeface="Times New Roman" panose="02020603050405020304" pitchFamily="18" charset="0"/>
                          <a:cs typeface="Times New Roman" panose="02020603050405020304" pitchFamily="18" charset="0"/>
                        </a:rPr>
                        <a:t>Adaptive IoT Sensor Networks for Precision Agriculture</a:t>
                      </a:r>
                    </a:p>
                  </a:txBody>
                  <a:tcPr/>
                </a:tc>
                <a:tc>
                  <a:txBody>
                    <a:bodyPr/>
                    <a:lstStyle/>
                    <a:p>
                      <a:pPr algn="just">
                        <a:buNone/>
                      </a:pPr>
                      <a:r>
                        <a:rPr lang="en-US" sz="1600" dirty="0">
                          <a:latin typeface="Times New Roman" panose="02020603050405020304" pitchFamily="18" charset="0"/>
                          <a:cs typeface="Times New Roman" panose="02020603050405020304" pitchFamily="18" charset="0"/>
                        </a:rPr>
                        <a:t>2022</a:t>
                      </a:r>
                    </a:p>
                  </a:txBody>
                  <a:tcPr/>
                </a:tc>
                <a:tc>
                  <a:txBody>
                    <a:bodyPr/>
                    <a:lstStyle/>
                    <a:p>
                      <a:pPr algn="just">
                        <a:buNone/>
                      </a:pPr>
                      <a:r>
                        <a:rPr lang="en-US" altLang="en-US" sz="1600" dirty="0">
                          <a:latin typeface="Times New Roman" panose="02020603050405020304" pitchFamily="18" charset="0"/>
                          <a:cs typeface="Times New Roman" panose="02020603050405020304" pitchFamily="18" charset="0"/>
                        </a:rPr>
                        <a:t>Describes how low-power environmental sensors are integrated via IoT protocols to provide crucial contextual data, enabling predictive disease modeling and stable data transmission under varying field conditions.</a:t>
                      </a:r>
                    </a:p>
                  </a:txBody>
                  <a:tcPr/>
                </a:tc>
                <a:extLst>
                  <a:ext uri="{0D108BD9-81ED-4DB2-BD59-A6C34878D82A}">
                    <a16:rowId xmlns:a16="http://schemas.microsoft.com/office/drawing/2014/main" val="10002"/>
                  </a:ext>
                </a:extLst>
              </a:tr>
              <a:tr h="1016643">
                <a:tc>
                  <a:txBody>
                    <a:bodyPr/>
                    <a:lstStyle/>
                    <a:p>
                      <a:pPr algn="just">
                        <a:buNone/>
                      </a:pPr>
                      <a:r>
                        <a:rPr lang="en-US" sz="1600">
                          <a:latin typeface="Times New Roman" panose="02020603050405020304" pitchFamily="18" charset="0"/>
                          <a:cs typeface="Times New Roman" panose="02020603050405020304" pitchFamily="18" charset="0"/>
                        </a:rPr>
                        <a:t>[3]</a:t>
                      </a:r>
                    </a:p>
                  </a:txBody>
                  <a:tcPr/>
                </a:tc>
                <a:tc>
                  <a:txBody>
                    <a:bodyPr/>
                    <a:lstStyle/>
                    <a:p>
                      <a:pPr algn="just">
                        <a:buNone/>
                      </a:pPr>
                      <a:r>
                        <a:rPr lang="en-US" altLang="en-US" sz="1600" dirty="0">
                          <a:latin typeface="Times New Roman" panose="02020603050405020304" pitchFamily="18" charset="0"/>
                          <a:cs typeface="Times New Roman" panose="02020603050405020304" pitchFamily="18" charset="0"/>
                        </a:rPr>
                        <a:t>L. Zhou </a:t>
                      </a:r>
                    </a:p>
                  </a:txBody>
                  <a:tcPr/>
                </a:tc>
                <a:tc>
                  <a:txBody>
                    <a:bodyPr/>
                    <a:lstStyle/>
                    <a:p>
                      <a:pPr algn="just">
                        <a:buNone/>
                      </a:pPr>
                      <a:r>
                        <a:rPr lang="en-US" altLang="en-US" sz="1600" dirty="0">
                          <a:latin typeface="Times New Roman" panose="02020603050405020304" pitchFamily="18" charset="0"/>
                          <a:cs typeface="Times New Roman" panose="02020603050405020304" pitchFamily="18" charset="0"/>
                        </a:rPr>
                        <a:t> Multi-Modal Sensor Fusion for Early Crop Stress Detection </a:t>
                      </a:r>
                    </a:p>
                  </a:txBody>
                  <a:tcPr/>
                </a:tc>
                <a:tc>
                  <a:txBody>
                    <a:bodyPr/>
                    <a:lstStyle/>
                    <a:p>
                      <a:pPr algn="just">
                        <a:buNone/>
                      </a:pPr>
                      <a:r>
                        <a:rPr lang="en-US" sz="1600" dirty="0">
                          <a:latin typeface="Times New Roman" panose="02020603050405020304" pitchFamily="18" charset="0"/>
                          <a:cs typeface="Times New Roman" panose="02020603050405020304" pitchFamily="18" charset="0"/>
                        </a:rPr>
                        <a:t>2023</a:t>
                      </a:r>
                    </a:p>
                  </a:txBody>
                  <a:tcPr/>
                </a:tc>
                <a:tc>
                  <a:txBody>
                    <a:bodyPr/>
                    <a:lstStyle/>
                    <a:p>
                      <a:pPr algn="just">
                        <a:buNone/>
                      </a:pPr>
                      <a:r>
                        <a:rPr lang="en-US" altLang="en-US" sz="1600" dirty="0">
                          <a:latin typeface="Times New Roman" panose="02020603050405020304" pitchFamily="18" charset="0"/>
                          <a:cs typeface="Times New Roman" panose="02020603050405020304" pitchFamily="18" charset="0"/>
                        </a:rPr>
                        <a:t>Demonstrates the importance of combining visual data  with environmental sensor data to detect pre-symptomatic stress in plants, essential for true early warning and optimized intervention.</a:t>
                      </a:r>
                    </a:p>
                  </a:txBody>
                  <a:tcPr/>
                </a:tc>
                <a:extLst>
                  <a:ext uri="{0D108BD9-81ED-4DB2-BD59-A6C34878D82A}">
                    <a16:rowId xmlns:a16="http://schemas.microsoft.com/office/drawing/2014/main" val="10003"/>
                  </a:ext>
                </a:extLst>
              </a:tr>
              <a:tr h="784268">
                <a:tc>
                  <a:txBody>
                    <a:bodyPr/>
                    <a:lstStyle/>
                    <a:p>
                      <a:pPr algn="just">
                        <a:buNone/>
                      </a:pPr>
                      <a:r>
                        <a:rPr lang="en-US" sz="1600">
                          <a:latin typeface="Times New Roman" panose="02020603050405020304" pitchFamily="18" charset="0"/>
                          <a:cs typeface="Times New Roman" panose="02020603050405020304" pitchFamily="18" charset="0"/>
                        </a:rPr>
                        <a:t>[4]</a:t>
                      </a:r>
                    </a:p>
                  </a:txBody>
                  <a:tcPr/>
                </a:tc>
                <a:tc>
                  <a:txBody>
                    <a:bodyPr/>
                    <a:lstStyle/>
                    <a:p>
                      <a:pPr algn="just">
                        <a:buNone/>
                      </a:pPr>
                      <a:r>
                        <a:rPr lang="en-US" altLang="en-US" sz="1600" dirty="0">
                          <a:latin typeface="Times New Roman" panose="02020603050405020304" pitchFamily="18" charset="0"/>
                          <a:cs typeface="Times New Roman" panose="02020603050405020304" pitchFamily="18" charset="0"/>
                        </a:rPr>
                        <a:t>M. Singh </a:t>
                      </a:r>
                    </a:p>
                  </a:txBody>
                  <a:tcPr/>
                </a:tc>
                <a:tc>
                  <a:txBody>
                    <a:bodyPr/>
                    <a:lstStyle/>
                    <a:p>
                      <a:pPr algn="just">
                        <a:buNone/>
                      </a:pPr>
                      <a:r>
                        <a:rPr lang="en-US" altLang="en-US" sz="1600" dirty="0">
                          <a:latin typeface="Times New Roman" panose="02020603050405020304" pitchFamily="18" charset="0"/>
                          <a:cs typeface="Times New Roman" panose="02020603050405020304" pitchFamily="18" charset="0"/>
                        </a:rPr>
                        <a:t>Edge Computing in Automated Pest and Disease Control 2023</a:t>
                      </a:r>
                    </a:p>
                  </a:txBody>
                  <a:tcPr/>
                </a:tc>
                <a:tc>
                  <a:txBody>
                    <a:bodyPr/>
                    <a:lstStyle/>
                    <a:p>
                      <a:pPr algn="just">
                        <a:buNone/>
                      </a:pPr>
                      <a:r>
                        <a:rPr lang="en-US" sz="1600" dirty="0">
                          <a:latin typeface="Times New Roman" panose="02020603050405020304" pitchFamily="18" charset="0"/>
                          <a:cs typeface="Times New Roman" panose="02020603050405020304" pitchFamily="18" charset="0"/>
                        </a:rPr>
                        <a:t>2023</a:t>
                      </a:r>
                    </a:p>
                  </a:txBody>
                  <a:tcPr/>
                </a:tc>
                <a:tc>
                  <a:txBody>
                    <a:bodyPr/>
                    <a:lstStyle/>
                    <a:p>
                      <a:pPr algn="just">
                        <a:buNone/>
                      </a:pPr>
                      <a:r>
                        <a:rPr lang="en-US" altLang="en-US" sz="1600" dirty="0">
                          <a:latin typeface="Times New Roman" panose="02020603050405020304" pitchFamily="18" charset="0"/>
                          <a:cs typeface="Times New Roman" panose="02020603050405020304" pitchFamily="18" charset="0"/>
                        </a:rPr>
                        <a:t>Highlights the importance of processing AI models directly on edge devices (e.g., in-field cameras) to enable immediate detection and action, reducing reliance on constant cloud connectivity and minimizing latency for real-time alerts and spraying.</a:t>
                      </a:r>
                    </a:p>
                  </a:txBody>
                  <a:tcPr/>
                </a:tc>
                <a:extLst>
                  <a:ext uri="{0D108BD9-81ED-4DB2-BD59-A6C34878D82A}">
                    <a16:rowId xmlns:a16="http://schemas.microsoft.com/office/drawing/2014/main" val="10004"/>
                  </a:ext>
                </a:extLst>
              </a:tr>
            </a:tbl>
          </a:graphicData>
        </a:graphic>
      </p:graphicFrame>
      <p:sp>
        <p:nvSpPr>
          <p:cNvPr id="5" name="Date Placeholder 4">
            <a:extLst>
              <a:ext uri="{FF2B5EF4-FFF2-40B4-BE49-F238E27FC236}">
                <a16:creationId xmlns:a16="http://schemas.microsoft.com/office/drawing/2014/main" id="{61954BD3-8273-2DA6-BBD2-A8C6AF992C2E}"/>
              </a:ext>
            </a:extLst>
          </p:cNvPr>
          <p:cNvSpPr>
            <a:spLocks noGrp="1"/>
          </p:cNvSpPr>
          <p:nvPr>
            <p:ph type="dt" sz="half" idx="10"/>
          </p:nvPr>
        </p:nvSpPr>
        <p:spPr/>
        <p:txBody>
          <a:bodyPr/>
          <a:lstStyle/>
          <a:p>
            <a:fld id="{DAA7A522-806C-428D-97C0-428994782801}" type="datetime1">
              <a:rPr lang="en-IN" smtClean="0"/>
              <a:t>19-12-2025</a:t>
            </a:fld>
            <a:endParaRPr lang="en-IN"/>
          </a:p>
        </p:txBody>
      </p:sp>
      <p:sp>
        <p:nvSpPr>
          <p:cNvPr id="7" name="Slide Number Placeholder 6">
            <a:extLst>
              <a:ext uri="{FF2B5EF4-FFF2-40B4-BE49-F238E27FC236}">
                <a16:creationId xmlns:a16="http://schemas.microsoft.com/office/drawing/2014/main" id="{2C0E01BC-9363-C92D-7A0E-FB69E41CF061}"/>
              </a:ext>
            </a:extLst>
          </p:cNvPr>
          <p:cNvSpPr>
            <a:spLocks noGrp="1"/>
          </p:cNvSpPr>
          <p:nvPr>
            <p:ph type="sldNum" sz="quarter" idx="12"/>
          </p:nvPr>
        </p:nvSpPr>
        <p:spPr/>
        <p:txBody>
          <a:bodyPr/>
          <a:lstStyle/>
          <a:p>
            <a:fld id="{76349249-FC48-47B8-92FA-4330554B3729}" type="slidenum">
              <a:rPr lang="en-IN" smtClean="0"/>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0C2E2-495A-E387-B164-340810AA5798}"/>
            </a:ext>
          </a:extLst>
        </p:cNvPr>
        <p:cNvGrpSpPr/>
        <p:nvPr/>
      </p:nvGrpSpPr>
      <p:grpSpPr>
        <a:xfrm>
          <a:off x="0" y="0"/>
          <a:ext cx="0" cy="0"/>
          <a:chOff x="0" y="0"/>
          <a:chExt cx="0" cy="0"/>
        </a:xfrm>
      </p:grpSpPr>
      <p:pic>
        <p:nvPicPr>
          <p:cNvPr id="2049" name="Picture 36" descr="Description: http://www.mkce.ac.in/wp-content/uploads/2018/02/footer-logo.png">
            <a:extLst>
              <a:ext uri="{FF2B5EF4-FFF2-40B4-BE49-F238E27FC236}">
                <a16:creationId xmlns:a16="http://schemas.microsoft.com/office/drawing/2014/main" id="{8E306CCC-443A-BD61-1550-93709948EF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a:extLst>
              <a:ext uri="{FF2B5EF4-FFF2-40B4-BE49-F238E27FC236}">
                <a16:creationId xmlns:a16="http://schemas.microsoft.com/office/drawing/2014/main" id="{DB0A506D-2216-C844-89F9-6283811B1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a:extLst>
              <a:ext uri="{FF2B5EF4-FFF2-40B4-BE49-F238E27FC236}">
                <a16:creationId xmlns:a16="http://schemas.microsoft.com/office/drawing/2014/main" id="{818FF500-1CBA-E588-E1E8-ABA1559609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8B8E32C7-D9BB-BFEE-7A51-E5CD0C93D24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5">
            <a:extLst>
              <a:ext uri="{FF2B5EF4-FFF2-40B4-BE49-F238E27FC236}">
                <a16:creationId xmlns:a16="http://schemas.microsoft.com/office/drawing/2014/main" id="{8BE26330-963F-43E6-77EB-F0B737F27D4D}"/>
              </a:ext>
            </a:extLst>
          </p:cNvPr>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59DB988B-B085-AA51-9E91-F4AD5B11ADD4}"/>
              </a:ext>
            </a:extLst>
          </p:cNvPr>
          <p:cNvSpPr txBox="1"/>
          <p:nvPr/>
        </p:nvSpPr>
        <p:spPr>
          <a:xfrm>
            <a:off x="431902" y="1058578"/>
            <a:ext cx="8259445" cy="924292"/>
          </a:xfrm>
          <a:prstGeom prst="rect">
            <a:avLst/>
          </a:prstGeom>
          <a:noFill/>
        </p:spPr>
        <p:txBody>
          <a:bodyPr wrap="square">
            <a:spAutoFit/>
          </a:bodyPr>
          <a:lstStyle/>
          <a:p>
            <a:pPr>
              <a:lnSpc>
                <a:spcPts val="7940"/>
              </a:lnSpc>
            </a:pPr>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BLOCK DIAGRAM</a:t>
            </a:r>
          </a:p>
        </p:txBody>
      </p:sp>
      <p:pic>
        <p:nvPicPr>
          <p:cNvPr id="6" name="Picture 5">
            <a:extLst>
              <a:ext uri="{FF2B5EF4-FFF2-40B4-BE49-F238E27FC236}">
                <a16:creationId xmlns:a16="http://schemas.microsoft.com/office/drawing/2014/main" id="{40F69361-9FE5-BE19-E44D-3DA8EE4995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87677" y="1958286"/>
            <a:ext cx="7816645" cy="4403373"/>
          </a:xfrm>
          <a:prstGeom prst="rect">
            <a:avLst/>
          </a:prstGeom>
        </p:spPr>
      </p:pic>
      <p:sp>
        <p:nvSpPr>
          <p:cNvPr id="2" name="Date Placeholder 1">
            <a:extLst>
              <a:ext uri="{FF2B5EF4-FFF2-40B4-BE49-F238E27FC236}">
                <a16:creationId xmlns:a16="http://schemas.microsoft.com/office/drawing/2014/main" id="{30B8F872-36FD-7C8B-2C22-4474762E722D}"/>
              </a:ext>
            </a:extLst>
          </p:cNvPr>
          <p:cNvSpPr>
            <a:spLocks noGrp="1"/>
          </p:cNvSpPr>
          <p:nvPr>
            <p:ph type="dt" sz="half" idx="10"/>
          </p:nvPr>
        </p:nvSpPr>
        <p:spPr/>
        <p:txBody>
          <a:bodyPr/>
          <a:lstStyle/>
          <a:p>
            <a:fld id="{08116095-C354-410A-9A21-AD4BF9DCF03D}" type="datetime1">
              <a:rPr lang="en-IN" smtClean="0"/>
              <a:t>19-12-2025</a:t>
            </a:fld>
            <a:endParaRPr lang="en-IN"/>
          </a:p>
        </p:txBody>
      </p:sp>
      <p:sp>
        <p:nvSpPr>
          <p:cNvPr id="7" name="Slide Number Placeholder 6">
            <a:extLst>
              <a:ext uri="{FF2B5EF4-FFF2-40B4-BE49-F238E27FC236}">
                <a16:creationId xmlns:a16="http://schemas.microsoft.com/office/drawing/2014/main" id="{B5642AD6-B6A7-5EFD-1E9D-2A7E0B554060}"/>
              </a:ext>
            </a:extLst>
          </p:cNvPr>
          <p:cNvSpPr>
            <a:spLocks noGrp="1"/>
          </p:cNvSpPr>
          <p:nvPr>
            <p:ph type="sldNum" sz="quarter" idx="12"/>
          </p:nvPr>
        </p:nvSpPr>
        <p:spPr/>
        <p:txBody>
          <a:bodyPr/>
          <a:lstStyle/>
          <a:p>
            <a:fld id="{76349249-FC48-47B8-92FA-4330554B3729}" type="slidenum">
              <a:rPr lang="en-IN" smtClean="0"/>
              <a:t>8</a:t>
            </a:fld>
            <a:endParaRPr lang="en-IN"/>
          </a:p>
        </p:txBody>
      </p:sp>
    </p:spTree>
    <p:extLst>
      <p:ext uri="{BB962C8B-B14F-4D97-AF65-F5344CB8AC3E}">
        <p14:creationId xmlns:p14="http://schemas.microsoft.com/office/powerpoint/2010/main" val="825286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9318-8306-B274-5280-EA80CE048F2A}"/>
            </a:ext>
          </a:extLst>
        </p:cNvPr>
        <p:cNvGrpSpPr/>
        <p:nvPr/>
      </p:nvGrpSpPr>
      <p:grpSpPr>
        <a:xfrm>
          <a:off x="0" y="0"/>
          <a:ext cx="0" cy="0"/>
          <a:chOff x="0" y="0"/>
          <a:chExt cx="0" cy="0"/>
        </a:xfrm>
      </p:grpSpPr>
      <p:pic>
        <p:nvPicPr>
          <p:cNvPr id="2049" name="Picture 36" descr="Description: http://www.mkce.ac.in/wp-content/uploads/2018/02/footer-logo.png">
            <a:extLst>
              <a:ext uri="{FF2B5EF4-FFF2-40B4-BE49-F238E27FC236}">
                <a16:creationId xmlns:a16="http://schemas.microsoft.com/office/drawing/2014/main" id="{A49F7815-D0C3-9963-EBB0-495BDB15AD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2" y="85696"/>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a:extLst>
              <a:ext uri="{FF2B5EF4-FFF2-40B4-BE49-F238E27FC236}">
                <a16:creationId xmlns:a16="http://schemas.microsoft.com/office/drawing/2014/main" id="{8DA1C3EE-8FE0-3E43-A5E9-3880DDA1DD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850" y="85696"/>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a:extLst>
              <a:ext uri="{FF2B5EF4-FFF2-40B4-BE49-F238E27FC236}">
                <a16:creationId xmlns:a16="http://schemas.microsoft.com/office/drawing/2014/main" id="{789BE6AB-BF99-ABDE-12CF-F1B033F2EE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7576" y="117044"/>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4727FED5-7D5F-7F5B-3E12-2F45E8F5507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5">
            <a:extLst>
              <a:ext uri="{FF2B5EF4-FFF2-40B4-BE49-F238E27FC236}">
                <a16:creationId xmlns:a16="http://schemas.microsoft.com/office/drawing/2014/main" id="{743B39A7-8540-156D-9158-BAAAADBFB3E9}"/>
              </a:ext>
            </a:extLst>
          </p:cNvPr>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TextBox 1">
            <a:extLst>
              <a:ext uri="{FF2B5EF4-FFF2-40B4-BE49-F238E27FC236}">
                <a16:creationId xmlns:a16="http://schemas.microsoft.com/office/drawing/2014/main" id="{4FCF396A-F840-53F1-D3D2-DFCA14CC3C38}"/>
              </a:ext>
            </a:extLst>
          </p:cNvPr>
          <p:cNvSpPr txBox="1"/>
          <p:nvPr/>
        </p:nvSpPr>
        <p:spPr>
          <a:xfrm>
            <a:off x="450850" y="748495"/>
            <a:ext cx="7219315" cy="924292"/>
          </a:xfrm>
          <a:prstGeom prst="rect">
            <a:avLst/>
          </a:prstGeom>
          <a:noFill/>
        </p:spPr>
        <p:txBody>
          <a:bodyPr wrap="square">
            <a:spAutoFit/>
          </a:bodyPr>
          <a:lstStyle/>
          <a:p>
            <a:pPr>
              <a:lnSpc>
                <a:spcPts val="7940"/>
              </a:lnSpc>
            </a:pPr>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METHODOLOGY</a:t>
            </a:r>
          </a:p>
        </p:txBody>
      </p:sp>
      <p:sp>
        <p:nvSpPr>
          <p:cNvPr id="6" name="Rectangle 1">
            <a:extLst>
              <a:ext uri="{FF2B5EF4-FFF2-40B4-BE49-F238E27FC236}">
                <a16:creationId xmlns:a16="http://schemas.microsoft.com/office/drawing/2014/main" id="{77C56F35-7EBF-8293-4C45-CC57860C517C}"/>
              </a:ext>
            </a:extLst>
          </p:cNvPr>
          <p:cNvSpPr>
            <a:spLocks noChangeArrowheads="1"/>
          </p:cNvSpPr>
          <p:nvPr/>
        </p:nvSpPr>
        <p:spPr bwMode="auto">
          <a:xfrm rot="10800000" flipV="1">
            <a:off x="450850" y="1964081"/>
            <a:ext cx="10825932" cy="3787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dirty="0">
                <a:latin typeface="Times New Roman" panose="02020603050405020304" pitchFamily="18" charset="0"/>
                <a:cs typeface="Times New Roman" panose="02020603050405020304" pitchFamily="18" charset="0"/>
              </a:rPr>
              <a:t>	The system operates by continuously acquiring real-time environmental data from temperature, humidity, soil-moisture, and light-intensity sensors, which are processed through the ESP32 microcontroller for condition assessment. A camera module captures leaf images, and these images are preprocessed using noise filtering, resizing, and normalization techniques before being analyzed by a lightweight CNN model trained for multi-class disease detection. When the model identifies abnormal symptoms or when sensor readings cross predefined thresholds, the controller triggers the required actuators such as irrigation pumps or pesticide sprayers. All operational data, including sensor logs, detection outcomes, and actuator activity, are transmitted to the cloud for monitoring and stored for further analysis. Alerts and system notifications are delivered to the farmer through an IoT communication interface, enabling timely decisions and continuous remote supervision.</a:t>
            </a:r>
          </a:p>
        </p:txBody>
      </p:sp>
    </p:spTree>
    <p:extLst>
      <p:ext uri="{BB962C8B-B14F-4D97-AF65-F5344CB8AC3E}">
        <p14:creationId xmlns:p14="http://schemas.microsoft.com/office/powerpoint/2010/main" val="3935587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9318-8306-B274-5280-EA80CE048F2A}"/>
            </a:ext>
          </a:extLst>
        </p:cNvPr>
        <p:cNvGrpSpPr/>
        <p:nvPr/>
      </p:nvGrpSpPr>
      <p:grpSpPr>
        <a:xfrm>
          <a:off x="0" y="0"/>
          <a:ext cx="0" cy="0"/>
          <a:chOff x="0" y="0"/>
          <a:chExt cx="0" cy="0"/>
        </a:xfrm>
      </p:grpSpPr>
      <p:pic>
        <p:nvPicPr>
          <p:cNvPr id="2049" name="Picture 36" descr="Description: http://www.mkce.ac.in/wp-content/uploads/2018/02/footer-logo.png">
            <a:extLst>
              <a:ext uri="{FF2B5EF4-FFF2-40B4-BE49-F238E27FC236}">
                <a16:creationId xmlns:a16="http://schemas.microsoft.com/office/drawing/2014/main" id="{A49F7815-D0C3-9963-EBB0-495BDB15AD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a:extLst>
              <a:ext uri="{FF2B5EF4-FFF2-40B4-BE49-F238E27FC236}">
                <a16:creationId xmlns:a16="http://schemas.microsoft.com/office/drawing/2014/main" id="{8DA1C3EE-8FE0-3E43-A5E9-3880DDA1DD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a:extLst>
              <a:ext uri="{FF2B5EF4-FFF2-40B4-BE49-F238E27FC236}">
                <a16:creationId xmlns:a16="http://schemas.microsoft.com/office/drawing/2014/main" id="{789BE6AB-BF99-ABDE-12CF-F1B033F2EE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4727FED5-7D5F-7F5B-3E12-2F45E8F5507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5">
            <a:extLst>
              <a:ext uri="{FF2B5EF4-FFF2-40B4-BE49-F238E27FC236}">
                <a16:creationId xmlns:a16="http://schemas.microsoft.com/office/drawing/2014/main" id="{743B39A7-8540-156D-9158-BAAAADBFB3E9}"/>
              </a:ext>
            </a:extLst>
          </p:cNvPr>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TextBox 1">
            <a:extLst>
              <a:ext uri="{FF2B5EF4-FFF2-40B4-BE49-F238E27FC236}">
                <a16:creationId xmlns:a16="http://schemas.microsoft.com/office/drawing/2014/main" id="{4FCF396A-F840-53F1-D3D2-DFCA14CC3C38}"/>
              </a:ext>
            </a:extLst>
          </p:cNvPr>
          <p:cNvSpPr txBox="1"/>
          <p:nvPr/>
        </p:nvSpPr>
        <p:spPr>
          <a:xfrm>
            <a:off x="530225" y="844449"/>
            <a:ext cx="7219315" cy="924292"/>
          </a:xfrm>
          <a:prstGeom prst="rect">
            <a:avLst/>
          </a:prstGeom>
          <a:noFill/>
        </p:spPr>
        <p:txBody>
          <a:bodyPr wrap="square">
            <a:spAutoFit/>
          </a:bodyPr>
          <a:lstStyle/>
          <a:p>
            <a:pPr>
              <a:lnSpc>
                <a:spcPts val="7940"/>
              </a:lnSpc>
            </a:pPr>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FLOWCHART</a:t>
            </a:r>
          </a:p>
        </p:txBody>
      </p:sp>
      <p:pic>
        <p:nvPicPr>
          <p:cNvPr id="3" name="Picture 2">
            <a:extLst>
              <a:ext uri="{FF2B5EF4-FFF2-40B4-BE49-F238E27FC236}">
                <a16:creationId xmlns:a16="http://schemas.microsoft.com/office/drawing/2014/main" id="{DE8A087F-38B0-0CDA-8F88-75C05278146B}"/>
              </a:ext>
            </a:extLst>
          </p:cNvPr>
          <p:cNvPicPr>
            <a:picLocks noChangeAspect="1"/>
          </p:cNvPicPr>
          <p:nvPr/>
        </p:nvPicPr>
        <p:blipFill>
          <a:blip r:embed="rId5">
            <a:extLst>
              <a:ext uri="{28A0092B-C50C-407E-A947-70E740481C1C}">
                <a14:useLocalDpi xmlns:a14="http://schemas.microsoft.com/office/drawing/2010/main" val="0"/>
              </a:ext>
            </a:extLst>
          </a:blip>
          <a:srcRect l="13282" r="21687"/>
          <a:stretch>
            <a:fillRect/>
          </a:stretch>
        </p:blipFill>
        <p:spPr>
          <a:xfrm>
            <a:off x="3372465" y="1550796"/>
            <a:ext cx="4984954" cy="5307195"/>
          </a:xfrm>
          <a:prstGeom prst="rect">
            <a:avLst/>
          </a:prstGeom>
        </p:spPr>
      </p:pic>
    </p:spTree>
    <p:extLst>
      <p:ext uri="{BB962C8B-B14F-4D97-AF65-F5344CB8AC3E}">
        <p14:creationId xmlns:p14="http://schemas.microsoft.com/office/powerpoint/2010/main" val="2821587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84505" y="1107502"/>
            <a:ext cx="5611495" cy="513080"/>
          </a:xfrm>
          <a:prstGeom prst="rect">
            <a:avLst/>
          </a:prstGeom>
          <a:noFill/>
        </p:spPr>
        <p:txBody>
          <a:bodyPr wrap="square" rtlCol="0">
            <a:noAutofit/>
          </a:bodyPr>
          <a:lstStyle/>
          <a:p>
            <a:r>
              <a:rPr lang="en-US" sz="2400" b="1" dirty="0">
                <a:solidFill>
                  <a:srgbClr val="FF0000"/>
                </a:solidFill>
                <a:latin typeface="Times New Roman" panose="02020603050405020304" pitchFamily="18" charset="0"/>
                <a:cs typeface="Times New Roman" panose="02020603050405020304" pitchFamily="18" charset="0"/>
              </a:rPr>
              <a:t>HARDWARE AND SOFTWARE USED</a:t>
            </a:r>
          </a:p>
        </p:txBody>
      </p:sp>
      <p:sp>
        <p:nvSpPr>
          <p:cNvPr id="4" name="Text Box 3"/>
          <p:cNvSpPr txBox="1"/>
          <p:nvPr/>
        </p:nvSpPr>
        <p:spPr>
          <a:xfrm>
            <a:off x="268605" y="1640533"/>
            <a:ext cx="11923395" cy="4714240"/>
          </a:xfrm>
          <a:prstGeom prst="rect">
            <a:avLst/>
          </a:prstGeom>
          <a:noFill/>
        </p:spPr>
        <p:txBody>
          <a:bodyPr wrap="square" rtlCol="0">
            <a:noAutofit/>
          </a:bodyPr>
          <a:lstStyle/>
          <a:p>
            <a:pPr marL="285750" indent="-285750" algn="just">
              <a:lnSpc>
                <a:spcPct val="100000"/>
              </a:lnSpc>
              <a:buFont typeface="Wingdings" panose="05000000000000000000" charset="0"/>
              <a:buChar char="q"/>
            </a:pPr>
            <a:endParaRPr lang="en-US" altLang="en-US" dirty="0">
              <a:latin typeface="Times New Roman" panose="02020603050405020304" pitchFamily="18" charset="0"/>
              <a:cs typeface="Times New Roman" panose="02020603050405020304" pitchFamily="18" charset="0"/>
            </a:endParaRPr>
          </a:p>
        </p:txBody>
      </p:sp>
      <p:pic>
        <p:nvPicPr>
          <p:cNvPr id="3"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505" y="635"/>
            <a:ext cx="2292350" cy="11118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7827" y="40639"/>
            <a:ext cx="1196340" cy="11601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8290" y="128905"/>
            <a:ext cx="810260" cy="98361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a:extLst>
              <a:ext uri="{FF2B5EF4-FFF2-40B4-BE49-F238E27FC236}">
                <a16:creationId xmlns:a16="http://schemas.microsoft.com/office/drawing/2014/main" id="{FDE23197-D16E-75BC-7351-35EBDA14190A}"/>
              </a:ext>
            </a:extLst>
          </p:cNvPr>
          <p:cNvSpPr>
            <a:spLocks noChangeArrowheads="1"/>
          </p:cNvSpPr>
          <p:nvPr/>
        </p:nvSpPr>
        <p:spPr bwMode="auto">
          <a:xfrm>
            <a:off x="796413" y="1634867"/>
            <a:ext cx="10360321"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ESP32 Board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Main controller with Wi-Fi/Bluetooth for system automation.</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5V Power Supply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Powers relays and pumps safely.</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DHT11 Sensor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Measures temperature and humidity (digital).</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Soil Moisture Sensor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Detects soil wet/dry condition.</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DS3231 RTC</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Provides accurate real-time clock for scheduling.</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4-Channel Relay Module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Controls pumps and sprayers.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Water Pump</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Provides irrigation when triggered.</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Float Level Sensors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Monitors water levels in main and sprayer tanks.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USB Webcam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Captures leaf images for disease detection.</a:t>
            </a:r>
          </a:p>
          <a:p>
            <a:pPr marL="285750" lvl="0" indent="-285750" algn="just" eaLnBrk="0" fontAlgn="base" hangingPunct="0">
              <a:lnSpc>
                <a:spcPct val="150000"/>
              </a:lnSpc>
              <a:spcBef>
                <a:spcPct val="0"/>
              </a:spcBef>
              <a:spcAft>
                <a:spcPct val="0"/>
              </a:spcAft>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Blynk Cloud / IoT Platform</a:t>
            </a:r>
            <a:r>
              <a:rPr lang="en-US" dirty="0">
                <a:latin typeface="Times New Roman" panose="02020603050405020304" pitchFamily="18" charset="0"/>
                <a:cs typeface="Times New Roman" panose="02020603050405020304" pitchFamily="18" charset="0"/>
              </a:rPr>
              <a:t> – Used for real-time monitoring and control</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8D08D85F-2729-173E-CBEF-DA6CB38E7D40}"/>
              </a:ext>
            </a:extLst>
          </p:cNvPr>
          <p:cNvSpPr>
            <a:spLocks noGrp="1"/>
          </p:cNvSpPr>
          <p:nvPr>
            <p:ph type="dt" sz="half" idx="10"/>
          </p:nvPr>
        </p:nvSpPr>
        <p:spPr/>
        <p:txBody>
          <a:bodyPr/>
          <a:lstStyle/>
          <a:p>
            <a:fld id="{13C63ABF-4F84-43CB-ACE4-7ACD02F81BE5}" type="datetime1">
              <a:rPr lang="en-IN" smtClean="0"/>
              <a:t>19-12-2025</a:t>
            </a:fld>
            <a:endParaRPr lang="en-IN"/>
          </a:p>
        </p:txBody>
      </p:sp>
      <p:sp>
        <p:nvSpPr>
          <p:cNvPr id="8" name="Slide Number Placeholder 7">
            <a:extLst>
              <a:ext uri="{FF2B5EF4-FFF2-40B4-BE49-F238E27FC236}">
                <a16:creationId xmlns:a16="http://schemas.microsoft.com/office/drawing/2014/main" id="{79499E2D-5550-0846-2841-A1DF0EB40049}"/>
              </a:ext>
            </a:extLst>
          </p:cNvPr>
          <p:cNvSpPr>
            <a:spLocks noGrp="1"/>
          </p:cNvSpPr>
          <p:nvPr>
            <p:ph type="sldNum" sz="quarter" idx="12"/>
          </p:nvPr>
        </p:nvSpPr>
        <p:spPr/>
        <p:txBody>
          <a:bodyPr/>
          <a:lstStyle/>
          <a:p>
            <a:fld id="{76349249-FC48-47B8-92FA-4330554B3729}" type="slidenum">
              <a:rPr lang="en-IN" smtClean="0"/>
              <a:t>11</a:t>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9318-8306-B274-5280-EA80CE048F2A}"/>
            </a:ext>
          </a:extLst>
        </p:cNvPr>
        <p:cNvGrpSpPr/>
        <p:nvPr/>
      </p:nvGrpSpPr>
      <p:grpSpPr>
        <a:xfrm>
          <a:off x="0" y="0"/>
          <a:ext cx="0" cy="0"/>
          <a:chOff x="0" y="0"/>
          <a:chExt cx="0" cy="0"/>
        </a:xfrm>
      </p:grpSpPr>
      <p:pic>
        <p:nvPicPr>
          <p:cNvPr id="2049" name="Picture 36" descr="Description: http://www.mkce.ac.in/wp-content/uploads/2018/02/footer-logo.png">
            <a:extLst>
              <a:ext uri="{FF2B5EF4-FFF2-40B4-BE49-F238E27FC236}">
                <a16:creationId xmlns:a16="http://schemas.microsoft.com/office/drawing/2014/main" id="{A49F7815-D0C3-9963-EBB0-495BDB15AD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a:extLst>
              <a:ext uri="{FF2B5EF4-FFF2-40B4-BE49-F238E27FC236}">
                <a16:creationId xmlns:a16="http://schemas.microsoft.com/office/drawing/2014/main" id="{8DA1C3EE-8FE0-3E43-A5E9-3880DDA1DD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a:extLst>
              <a:ext uri="{FF2B5EF4-FFF2-40B4-BE49-F238E27FC236}">
                <a16:creationId xmlns:a16="http://schemas.microsoft.com/office/drawing/2014/main" id="{789BE6AB-BF99-ABDE-12CF-F1B033F2EE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4727FED5-7D5F-7F5B-3E12-2F45E8F5507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5">
            <a:extLst>
              <a:ext uri="{FF2B5EF4-FFF2-40B4-BE49-F238E27FC236}">
                <a16:creationId xmlns:a16="http://schemas.microsoft.com/office/drawing/2014/main" id="{743B39A7-8540-156D-9158-BAAAADBFB3E9}"/>
              </a:ext>
            </a:extLst>
          </p:cNvPr>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TextBox 1">
            <a:extLst>
              <a:ext uri="{FF2B5EF4-FFF2-40B4-BE49-F238E27FC236}">
                <a16:creationId xmlns:a16="http://schemas.microsoft.com/office/drawing/2014/main" id="{4FCF396A-F840-53F1-D3D2-DFCA14CC3C38}"/>
              </a:ext>
            </a:extLst>
          </p:cNvPr>
          <p:cNvSpPr txBox="1"/>
          <p:nvPr/>
        </p:nvSpPr>
        <p:spPr>
          <a:xfrm>
            <a:off x="402406" y="808577"/>
            <a:ext cx="6097904" cy="924292"/>
          </a:xfrm>
          <a:prstGeom prst="rect">
            <a:avLst/>
          </a:prstGeom>
          <a:noFill/>
        </p:spPr>
        <p:txBody>
          <a:bodyPr wrap="square">
            <a:spAutoFit/>
          </a:bodyPr>
          <a:lstStyle/>
          <a:p>
            <a:pPr>
              <a:lnSpc>
                <a:spcPts val="7940"/>
              </a:lnSpc>
            </a:pPr>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SIMULATION RESULT</a:t>
            </a:r>
          </a:p>
        </p:txBody>
      </p:sp>
      <p:pic>
        <p:nvPicPr>
          <p:cNvPr id="8" name="Picture 7">
            <a:extLst>
              <a:ext uri="{FF2B5EF4-FFF2-40B4-BE49-F238E27FC236}">
                <a16:creationId xmlns:a16="http://schemas.microsoft.com/office/drawing/2014/main" id="{7D99C152-8CF7-E3B7-5932-35C384460C04}"/>
              </a:ext>
            </a:extLst>
          </p:cNvPr>
          <p:cNvPicPr>
            <a:picLocks noChangeAspect="1"/>
          </p:cNvPicPr>
          <p:nvPr/>
        </p:nvPicPr>
        <p:blipFill>
          <a:blip r:embed="rId5"/>
          <a:stretch>
            <a:fillRect/>
          </a:stretch>
        </p:blipFill>
        <p:spPr>
          <a:xfrm>
            <a:off x="1799303" y="1888581"/>
            <a:ext cx="8648990" cy="4797351"/>
          </a:xfrm>
          <a:prstGeom prst="rect">
            <a:avLst/>
          </a:prstGeom>
        </p:spPr>
      </p:pic>
      <p:sp>
        <p:nvSpPr>
          <p:cNvPr id="3" name="Date Placeholder 2">
            <a:extLst>
              <a:ext uri="{FF2B5EF4-FFF2-40B4-BE49-F238E27FC236}">
                <a16:creationId xmlns:a16="http://schemas.microsoft.com/office/drawing/2014/main" id="{0B591669-9F97-2195-9D83-F94EBBC70D9E}"/>
              </a:ext>
            </a:extLst>
          </p:cNvPr>
          <p:cNvSpPr>
            <a:spLocks noGrp="1"/>
          </p:cNvSpPr>
          <p:nvPr>
            <p:ph type="dt" sz="half" idx="10"/>
          </p:nvPr>
        </p:nvSpPr>
        <p:spPr/>
        <p:txBody>
          <a:bodyPr/>
          <a:lstStyle/>
          <a:p>
            <a:fld id="{CE78F1E6-10AC-4748-820D-80DDE9834858}" type="datetime1">
              <a:rPr lang="en-IN" smtClean="0"/>
              <a:t>19-12-2025</a:t>
            </a:fld>
            <a:endParaRPr lang="en-IN"/>
          </a:p>
        </p:txBody>
      </p:sp>
      <p:sp>
        <p:nvSpPr>
          <p:cNvPr id="6" name="Slide Number Placeholder 5">
            <a:extLst>
              <a:ext uri="{FF2B5EF4-FFF2-40B4-BE49-F238E27FC236}">
                <a16:creationId xmlns:a16="http://schemas.microsoft.com/office/drawing/2014/main" id="{D354D406-AFE9-8C6E-EEF9-45CD821BA7B7}"/>
              </a:ext>
            </a:extLst>
          </p:cNvPr>
          <p:cNvSpPr>
            <a:spLocks noGrp="1"/>
          </p:cNvSpPr>
          <p:nvPr>
            <p:ph type="sldNum" sz="quarter" idx="12"/>
          </p:nvPr>
        </p:nvSpPr>
        <p:spPr/>
        <p:txBody>
          <a:bodyPr/>
          <a:lstStyle/>
          <a:p>
            <a:fld id="{76349249-FC48-47B8-92FA-4330554B3729}" type="slidenum">
              <a:rPr lang="en-IN" smtClean="0"/>
              <a:t>12</a:t>
            </a:fld>
            <a:endParaRPr lang="en-IN"/>
          </a:p>
        </p:txBody>
      </p:sp>
    </p:spTree>
    <p:extLst>
      <p:ext uri="{BB962C8B-B14F-4D97-AF65-F5344CB8AC3E}">
        <p14:creationId xmlns:p14="http://schemas.microsoft.com/office/powerpoint/2010/main" val="2694280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659AE-A43B-A523-445A-88B72374A841}"/>
            </a:ext>
          </a:extLst>
        </p:cNvPr>
        <p:cNvGrpSpPr/>
        <p:nvPr/>
      </p:nvGrpSpPr>
      <p:grpSpPr>
        <a:xfrm>
          <a:off x="0" y="0"/>
          <a:ext cx="0" cy="0"/>
          <a:chOff x="0" y="0"/>
          <a:chExt cx="0" cy="0"/>
        </a:xfrm>
      </p:grpSpPr>
      <p:pic>
        <p:nvPicPr>
          <p:cNvPr id="2049" name="Picture 36" descr="Description: http://www.mkce.ac.in/wp-content/uploads/2018/02/footer-logo.png">
            <a:extLst>
              <a:ext uri="{FF2B5EF4-FFF2-40B4-BE49-F238E27FC236}">
                <a16:creationId xmlns:a16="http://schemas.microsoft.com/office/drawing/2014/main" id="{523FA232-A030-54FF-AA87-30E4492D04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a:extLst>
              <a:ext uri="{FF2B5EF4-FFF2-40B4-BE49-F238E27FC236}">
                <a16:creationId xmlns:a16="http://schemas.microsoft.com/office/drawing/2014/main" id="{15395CC4-14A1-E529-BBFA-DACEA413A7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a:extLst>
              <a:ext uri="{FF2B5EF4-FFF2-40B4-BE49-F238E27FC236}">
                <a16:creationId xmlns:a16="http://schemas.microsoft.com/office/drawing/2014/main" id="{E273E40A-B790-4224-C317-B0C71D6DEC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50FB6325-D3E1-1056-0333-E6E74C239E1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5">
            <a:extLst>
              <a:ext uri="{FF2B5EF4-FFF2-40B4-BE49-F238E27FC236}">
                <a16:creationId xmlns:a16="http://schemas.microsoft.com/office/drawing/2014/main" id="{EA8AB57B-91D6-139E-A417-63D1EA22048D}"/>
              </a:ext>
            </a:extLst>
          </p:cNvPr>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TextBox 1">
            <a:extLst>
              <a:ext uri="{FF2B5EF4-FFF2-40B4-BE49-F238E27FC236}">
                <a16:creationId xmlns:a16="http://schemas.microsoft.com/office/drawing/2014/main" id="{C923D065-6123-2379-3F05-B01AB4D3F0B3}"/>
              </a:ext>
            </a:extLst>
          </p:cNvPr>
          <p:cNvSpPr txBox="1"/>
          <p:nvPr/>
        </p:nvSpPr>
        <p:spPr>
          <a:xfrm>
            <a:off x="422960" y="871254"/>
            <a:ext cx="6097904" cy="924292"/>
          </a:xfrm>
          <a:prstGeom prst="rect">
            <a:avLst/>
          </a:prstGeom>
          <a:noFill/>
        </p:spPr>
        <p:txBody>
          <a:bodyPr wrap="square">
            <a:spAutoFit/>
          </a:bodyPr>
          <a:lstStyle/>
          <a:p>
            <a:pPr>
              <a:lnSpc>
                <a:spcPts val="7940"/>
              </a:lnSpc>
            </a:pPr>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HARDWARE PROTOTYPE</a:t>
            </a:r>
          </a:p>
        </p:txBody>
      </p:sp>
      <p:pic>
        <p:nvPicPr>
          <p:cNvPr id="7" name="Picture 6">
            <a:extLst>
              <a:ext uri="{FF2B5EF4-FFF2-40B4-BE49-F238E27FC236}">
                <a16:creationId xmlns:a16="http://schemas.microsoft.com/office/drawing/2014/main" id="{E8FA0F8E-3755-6BF3-5B2E-1280A2E3EE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04726" y="1858240"/>
            <a:ext cx="6015135" cy="4511351"/>
          </a:xfrm>
          <a:prstGeom prst="rect">
            <a:avLst/>
          </a:prstGeom>
        </p:spPr>
      </p:pic>
      <p:sp>
        <p:nvSpPr>
          <p:cNvPr id="8" name="Date Placeholder 7">
            <a:extLst>
              <a:ext uri="{FF2B5EF4-FFF2-40B4-BE49-F238E27FC236}">
                <a16:creationId xmlns:a16="http://schemas.microsoft.com/office/drawing/2014/main" id="{2394D9A6-75C1-215F-2E1B-CAABCD574EBF}"/>
              </a:ext>
            </a:extLst>
          </p:cNvPr>
          <p:cNvSpPr>
            <a:spLocks noGrp="1"/>
          </p:cNvSpPr>
          <p:nvPr>
            <p:ph type="dt" sz="half" idx="10"/>
          </p:nvPr>
        </p:nvSpPr>
        <p:spPr/>
        <p:txBody>
          <a:bodyPr/>
          <a:lstStyle/>
          <a:p>
            <a:fld id="{FB14157D-C07C-440A-860F-2685841E8C09}" type="datetime1">
              <a:rPr lang="en-IN" smtClean="0"/>
              <a:t>19-12-2025</a:t>
            </a:fld>
            <a:endParaRPr lang="en-IN"/>
          </a:p>
        </p:txBody>
      </p:sp>
      <p:sp>
        <p:nvSpPr>
          <p:cNvPr id="9" name="Slide Number Placeholder 8">
            <a:extLst>
              <a:ext uri="{FF2B5EF4-FFF2-40B4-BE49-F238E27FC236}">
                <a16:creationId xmlns:a16="http://schemas.microsoft.com/office/drawing/2014/main" id="{BE40F558-51A8-8057-CDFC-BC0546A53AED}"/>
              </a:ext>
            </a:extLst>
          </p:cNvPr>
          <p:cNvSpPr>
            <a:spLocks noGrp="1"/>
          </p:cNvSpPr>
          <p:nvPr>
            <p:ph type="sldNum" sz="quarter" idx="12"/>
          </p:nvPr>
        </p:nvSpPr>
        <p:spPr/>
        <p:txBody>
          <a:bodyPr/>
          <a:lstStyle/>
          <a:p>
            <a:fld id="{76349249-FC48-47B8-92FA-4330554B3729}" type="slidenum">
              <a:rPr lang="en-IN" smtClean="0"/>
              <a:t>13</a:t>
            </a:fld>
            <a:endParaRPr lang="en-IN"/>
          </a:p>
        </p:txBody>
      </p:sp>
    </p:spTree>
    <p:extLst>
      <p:ext uri="{BB962C8B-B14F-4D97-AF65-F5344CB8AC3E}">
        <p14:creationId xmlns:p14="http://schemas.microsoft.com/office/powerpoint/2010/main" val="3801086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659AE-A43B-A523-445A-88B72374A841}"/>
            </a:ext>
          </a:extLst>
        </p:cNvPr>
        <p:cNvGrpSpPr/>
        <p:nvPr/>
      </p:nvGrpSpPr>
      <p:grpSpPr>
        <a:xfrm>
          <a:off x="0" y="0"/>
          <a:ext cx="0" cy="0"/>
          <a:chOff x="0" y="0"/>
          <a:chExt cx="0" cy="0"/>
        </a:xfrm>
      </p:grpSpPr>
      <p:pic>
        <p:nvPicPr>
          <p:cNvPr id="2049" name="Picture 36" descr="Description: http://www.mkce.ac.in/wp-content/uploads/2018/02/footer-logo.png">
            <a:extLst>
              <a:ext uri="{FF2B5EF4-FFF2-40B4-BE49-F238E27FC236}">
                <a16:creationId xmlns:a16="http://schemas.microsoft.com/office/drawing/2014/main" id="{523FA232-A030-54FF-AA87-30E4492D04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a:extLst>
              <a:ext uri="{FF2B5EF4-FFF2-40B4-BE49-F238E27FC236}">
                <a16:creationId xmlns:a16="http://schemas.microsoft.com/office/drawing/2014/main" id="{15395CC4-14A1-E529-BBFA-DACEA413A7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a:extLst>
              <a:ext uri="{FF2B5EF4-FFF2-40B4-BE49-F238E27FC236}">
                <a16:creationId xmlns:a16="http://schemas.microsoft.com/office/drawing/2014/main" id="{E273E40A-B790-4224-C317-B0C71D6DEC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50FB6325-D3E1-1056-0333-E6E74C239E1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5">
            <a:extLst>
              <a:ext uri="{FF2B5EF4-FFF2-40B4-BE49-F238E27FC236}">
                <a16:creationId xmlns:a16="http://schemas.microsoft.com/office/drawing/2014/main" id="{EA8AB57B-91D6-139E-A417-63D1EA22048D}"/>
              </a:ext>
            </a:extLst>
          </p:cNvPr>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TextBox 1">
            <a:extLst>
              <a:ext uri="{FF2B5EF4-FFF2-40B4-BE49-F238E27FC236}">
                <a16:creationId xmlns:a16="http://schemas.microsoft.com/office/drawing/2014/main" id="{C923D065-6123-2379-3F05-B01AB4D3F0B3}"/>
              </a:ext>
            </a:extLst>
          </p:cNvPr>
          <p:cNvSpPr txBox="1"/>
          <p:nvPr/>
        </p:nvSpPr>
        <p:spPr>
          <a:xfrm>
            <a:off x="441735" y="982041"/>
            <a:ext cx="7571556" cy="924292"/>
          </a:xfrm>
          <a:prstGeom prst="rect">
            <a:avLst/>
          </a:prstGeom>
          <a:noFill/>
        </p:spPr>
        <p:txBody>
          <a:bodyPr wrap="square">
            <a:spAutoFit/>
          </a:bodyPr>
          <a:lstStyle/>
          <a:p>
            <a:pPr>
              <a:lnSpc>
                <a:spcPts val="7940"/>
              </a:lnSpc>
            </a:pPr>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RESULTS &amp; DISCUSSION</a:t>
            </a:r>
          </a:p>
        </p:txBody>
      </p:sp>
      <p:sp>
        <p:nvSpPr>
          <p:cNvPr id="3" name="TextBox 2">
            <a:extLst>
              <a:ext uri="{FF2B5EF4-FFF2-40B4-BE49-F238E27FC236}">
                <a16:creationId xmlns:a16="http://schemas.microsoft.com/office/drawing/2014/main" id="{82B2646F-AD25-FC0A-D4CC-434593C27BB3}"/>
              </a:ext>
            </a:extLst>
          </p:cNvPr>
          <p:cNvSpPr txBox="1"/>
          <p:nvPr/>
        </p:nvSpPr>
        <p:spPr>
          <a:xfrm>
            <a:off x="530225" y="2310581"/>
            <a:ext cx="10728326" cy="2951064"/>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	The implemented system successfully detected abnormal environmental conditions and crop diseases with a high level of reliability. The sensor network continuously measured temperature, humidity, soil moisture, and light intensity, and the collected data showed stable real-time performance without delays. The CNN-based image classifier accurately identified disease symptoms from leaf images and triggered the appropriate response actions. Automated control operations—such as pesticide spraying and irrigation—were activated only when required, proving the efficiency of the decision-making logic. Overall, the system demonstrated consistent performance in early detection, reduced manual intervention, and improved precision in crop management.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6698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8B1A0-28FC-EA56-454B-A9208D6E7B93}"/>
            </a:ext>
          </a:extLst>
        </p:cNvPr>
        <p:cNvGrpSpPr/>
        <p:nvPr/>
      </p:nvGrpSpPr>
      <p:grpSpPr>
        <a:xfrm>
          <a:off x="0" y="0"/>
          <a:ext cx="0" cy="0"/>
          <a:chOff x="0" y="0"/>
          <a:chExt cx="0" cy="0"/>
        </a:xfrm>
      </p:grpSpPr>
      <p:pic>
        <p:nvPicPr>
          <p:cNvPr id="2049" name="Picture 36" descr="Description: http://www.mkce.ac.in/wp-content/uploads/2018/02/footer-logo.png">
            <a:extLst>
              <a:ext uri="{FF2B5EF4-FFF2-40B4-BE49-F238E27FC236}">
                <a16:creationId xmlns:a16="http://schemas.microsoft.com/office/drawing/2014/main" id="{4980BDA0-A3FA-A57A-D318-1301C5640B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a:extLst>
              <a:ext uri="{FF2B5EF4-FFF2-40B4-BE49-F238E27FC236}">
                <a16:creationId xmlns:a16="http://schemas.microsoft.com/office/drawing/2014/main" id="{3C234A10-6A3A-8B84-D6C2-15800C4C39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a:extLst>
              <a:ext uri="{FF2B5EF4-FFF2-40B4-BE49-F238E27FC236}">
                <a16:creationId xmlns:a16="http://schemas.microsoft.com/office/drawing/2014/main" id="{47CAF2C9-D201-2483-BD53-20343961ED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0327554E-F8D9-1FF1-47AF-39022931D39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5">
            <a:extLst>
              <a:ext uri="{FF2B5EF4-FFF2-40B4-BE49-F238E27FC236}">
                <a16:creationId xmlns:a16="http://schemas.microsoft.com/office/drawing/2014/main" id="{C2BDC799-EBD3-9AB4-9504-3A7A18A40B5A}"/>
              </a:ext>
            </a:extLst>
          </p:cNvPr>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TextBox 1">
            <a:extLst>
              <a:ext uri="{FF2B5EF4-FFF2-40B4-BE49-F238E27FC236}">
                <a16:creationId xmlns:a16="http://schemas.microsoft.com/office/drawing/2014/main" id="{4F44CE19-F7D8-899C-C9DE-B2834A2512DF}"/>
              </a:ext>
            </a:extLst>
          </p:cNvPr>
          <p:cNvSpPr txBox="1"/>
          <p:nvPr/>
        </p:nvSpPr>
        <p:spPr>
          <a:xfrm>
            <a:off x="530225" y="1010160"/>
            <a:ext cx="6097904" cy="924292"/>
          </a:xfrm>
          <a:prstGeom prst="rect">
            <a:avLst/>
          </a:prstGeom>
          <a:noFill/>
        </p:spPr>
        <p:txBody>
          <a:bodyPr wrap="square">
            <a:spAutoFit/>
          </a:bodyPr>
          <a:lstStyle/>
          <a:p>
            <a:pPr>
              <a:lnSpc>
                <a:spcPts val="7940"/>
              </a:lnSpc>
            </a:pPr>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APPLICATIONS</a:t>
            </a:r>
          </a:p>
        </p:txBody>
      </p:sp>
      <p:sp>
        <p:nvSpPr>
          <p:cNvPr id="3" name="TextBox 2">
            <a:extLst>
              <a:ext uri="{FF2B5EF4-FFF2-40B4-BE49-F238E27FC236}">
                <a16:creationId xmlns:a16="http://schemas.microsoft.com/office/drawing/2014/main" id="{C4BC2FB6-9F55-81D0-A01C-F93D031C0EE6}"/>
              </a:ext>
            </a:extLst>
          </p:cNvPr>
          <p:cNvSpPr txBox="1"/>
          <p:nvPr/>
        </p:nvSpPr>
        <p:spPr>
          <a:xfrm>
            <a:off x="658761" y="2198774"/>
            <a:ext cx="10599790" cy="3277820"/>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Real-time crop health monitoring</a:t>
            </a:r>
            <a:r>
              <a:rPr lang="en-US" dirty="0">
                <a:latin typeface="Times New Roman" panose="02020603050405020304" pitchFamily="18" charset="0"/>
                <a:cs typeface="Times New Roman" panose="02020603050405020304" pitchFamily="18" charset="0"/>
              </a:rPr>
              <a:t> in agricultural fields for early detection of diseases.</a:t>
            </a:r>
          </a:p>
          <a:p>
            <a:pPr marL="285750" indent="-28575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Automated pesticide spraying</a:t>
            </a:r>
            <a:r>
              <a:rPr lang="en-US" dirty="0">
                <a:latin typeface="Times New Roman" panose="02020603050405020304" pitchFamily="18" charset="0"/>
                <a:cs typeface="Times New Roman" panose="02020603050405020304" pitchFamily="18" charset="0"/>
              </a:rPr>
              <a:t> based on AI-driven disease identification to reduce chemical wastage.</a:t>
            </a:r>
          </a:p>
          <a:p>
            <a:pPr marL="285750" indent="-28575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Smart irrigation activation</a:t>
            </a:r>
            <a:r>
              <a:rPr lang="en-US" dirty="0">
                <a:latin typeface="Times New Roman" panose="02020603050405020304" pitchFamily="18" charset="0"/>
                <a:cs typeface="Times New Roman" panose="02020603050405020304" pitchFamily="18" charset="0"/>
              </a:rPr>
              <a:t> using environmental and soil-moisture analysis.</a:t>
            </a:r>
          </a:p>
          <a:p>
            <a:pPr marL="285750" indent="-28575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Greenhouse monitoring systems</a:t>
            </a:r>
            <a:r>
              <a:rPr lang="en-US" dirty="0">
                <a:latin typeface="Times New Roman" panose="02020603050405020304" pitchFamily="18" charset="0"/>
                <a:cs typeface="Times New Roman" panose="02020603050405020304" pitchFamily="18" charset="0"/>
              </a:rPr>
              <a:t> where controlled environmental sensing improves crop stability.</a:t>
            </a:r>
          </a:p>
          <a:p>
            <a:pPr marL="285750" indent="-28575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Precision agriculture platforms</a:t>
            </a:r>
            <a:r>
              <a:rPr lang="en-US" dirty="0">
                <a:latin typeface="Times New Roman" panose="02020603050405020304" pitchFamily="18" charset="0"/>
                <a:cs typeface="Times New Roman" panose="02020603050405020304" pitchFamily="18" charset="0"/>
              </a:rPr>
              <a:t> that integrate IoT data and machine-learning predictions for optimized yield.</a:t>
            </a:r>
          </a:p>
          <a:p>
            <a:pPr marL="285750" indent="-28575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Agri-based decision-support systems</a:t>
            </a:r>
            <a:r>
              <a:rPr lang="en-US" dirty="0">
                <a:latin typeface="Times New Roman" panose="02020603050405020304" pitchFamily="18" charset="0"/>
                <a:cs typeface="Times New Roman" panose="02020603050405020304" pitchFamily="18" charset="0"/>
              </a:rPr>
              <a:t> providing actionable insights to farmers through mobile alerts.</a:t>
            </a:r>
          </a:p>
          <a:p>
            <a:pPr marL="285750" indent="-28575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Large-scale farm automation</a:t>
            </a:r>
            <a:r>
              <a:rPr lang="en-US" dirty="0">
                <a:latin typeface="Times New Roman" panose="02020603050405020304" pitchFamily="18" charset="0"/>
                <a:cs typeface="Times New Roman" panose="02020603050405020304" pitchFamily="18" charset="0"/>
              </a:rPr>
              <a:t> for reducing manual labor and ensuring continuous surveillance of crops.</a:t>
            </a:r>
          </a:p>
          <a:p>
            <a:endParaRPr lang="en-IN" dirty="0"/>
          </a:p>
        </p:txBody>
      </p:sp>
    </p:spTree>
    <p:extLst>
      <p:ext uri="{BB962C8B-B14F-4D97-AF65-F5344CB8AC3E}">
        <p14:creationId xmlns:p14="http://schemas.microsoft.com/office/powerpoint/2010/main" val="1347128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3455D-DAE8-22A5-0E01-ECD7C5119D49}"/>
            </a:ext>
          </a:extLst>
        </p:cNvPr>
        <p:cNvGrpSpPr/>
        <p:nvPr/>
      </p:nvGrpSpPr>
      <p:grpSpPr>
        <a:xfrm>
          <a:off x="0" y="0"/>
          <a:ext cx="0" cy="0"/>
          <a:chOff x="0" y="0"/>
          <a:chExt cx="0" cy="0"/>
        </a:xfrm>
      </p:grpSpPr>
      <p:pic>
        <p:nvPicPr>
          <p:cNvPr id="2049" name="Picture 36" descr="Description: http://www.mkce.ac.in/wp-content/uploads/2018/02/footer-logo.png">
            <a:extLst>
              <a:ext uri="{FF2B5EF4-FFF2-40B4-BE49-F238E27FC236}">
                <a16:creationId xmlns:a16="http://schemas.microsoft.com/office/drawing/2014/main" id="{11872C80-6353-0086-148B-3D05CAA803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a:extLst>
              <a:ext uri="{FF2B5EF4-FFF2-40B4-BE49-F238E27FC236}">
                <a16:creationId xmlns:a16="http://schemas.microsoft.com/office/drawing/2014/main" id="{B439A06C-9121-90C4-09E9-1ED3CF7FCA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a:extLst>
              <a:ext uri="{FF2B5EF4-FFF2-40B4-BE49-F238E27FC236}">
                <a16:creationId xmlns:a16="http://schemas.microsoft.com/office/drawing/2014/main" id="{29986643-6680-A735-D13C-F4B74D7F1A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859F170B-735E-C5D9-E6A7-727D7CCB3F1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5">
            <a:extLst>
              <a:ext uri="{FF2B5EF4-FFF2-40B4-BE49-F238E27FC236}">
                <a16:creationId xmlns:a16="http://schemas.microsoft.com/office/drawing/2014/main" id="{15B0B49D-044A-8AA1-9E68-8FE215E7067E}"/>
              </a:ext>
            </a:extLst>
          </p:cNvPr>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TextBox 1">
            <a:extLst>
              <a:ext uri="{FF2B5EF4-FFF2-40B4-BE49-F238E27FC236}">
                <a16:creationId xmlns:a16="http://schemas.microsoft.com/office/drawing/2014/main" id="{A772310E-702A-0C34-4A8C-1D77B336E206}"/>
              </a:ext>
            </a:extLst>
          </p:cNvPr>
          <p:cNvSpPr txBox="1"/>
          <p:nvPr/>
        </p:nvSpPr>
        <p:spPr>
          <a:xfrm>
            <a:off x="422069" y="903550"/>
            <a:ext cx="8977570" cy="924292"/>
          </a:xfrm>
          <a:prstGeom prst="rect">
            <a:avLst/>
          </a:prstGeom>
          <a:noFill/>
        </p:spPr>
        <p:txBody>
          <a:bodyPr wrap="square">
            <a:spAutoFit/>
          </a:bodyPr>
          <a:lstStyle/>
          <a:p>
            <a:pPr>
              <a:lnSpc>
                <a:spcPts val="7940"/>
              </a:lnSpc>
            </a:pPr>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ADVANTAGES </a:t>
            </a:r>
          </a:p>
        </p:txBody>
      </p:sp>
      <p:sp>
        <p:nvSpPr>
          <p:cNvPr id="9" name="Rectangle 3">
            <a:extLst>
              <a:ext uri="{FF2B5EF4-FFF2-40B4-BE49-F238E27FC236}">
                <a16:creationId xmlns:a16="http://schemas.microsoft.com/office/drawing/2014/main" id="{4C5484F6-533E-B3EF-DDE2-120ED2025025}"/>
              </a:ext>
            </a:extLst>
          </p:cNvPr>
          <p:cNvSpPr>
            <a:spLocks noChangeArrowheads="1"/>
          </p:cNvSpPr>
          <p:nvPr/>
        </p:nvSpPr>
        <p:spPr bwMode="auto">
          <a:xfrm>
            <a:off x="530225" y="1822896"/>
            <a:ext cx="886941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dirty="0">
                <a:latin typeface="Times New Roman" panose="02020603050405020304" pitchFamily="18" charset="0"/>
                <a:cs typeface="Times New Roman" panose="02020603050405020304" pitchFamily="18" charset="0"/>
              </a:rPr>
              <a:t>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ccurate disease identification through AI-based image analysis.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system actions such as spraying and irrigation using integrated sensors.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environmental monitoring for improved data-driven crop management.</a:t>
            </a:r>
          </a:p>
          <a:p>
            <a:pPr marL="285750" lvl="0" indent="-285750" eaLnBrk="0" fontAlgn="base" hangingPunct="0">
              <a:lnSpc>
                <a:spcPct val="150000"/>
              </a:lnSpc>
              <a:spcBef>
                <a:spcPct val="0"/>
              </a:spcBef>
              <a:spcAft>
                <a:spcPct val="0"/>
              </a:spcAf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Minimized Crop Loss</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Early AI-driven detection and automated corrective action significantly reduce the spread and impact of crop diseases.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8A69DF72-24F9-90B3-E1FF-F8607537F65D}"/>
              </a:ext>
            </a:extLst>
          </p:cNvPr>
          <p:cNvSpPr txBox="1"/>
          <p:nvPr/>
        </p:nvSpPr>
        <p:spPr>
          <a:xfrm>
            <a:off x="530225" y="3998959"/>
            <a:ext cx="10424538" cy="2400657"/>
          </a:xfrm>
          <a:prstGeom prst="rect">
            <a:avLst/>
          </a:prstGeom>
          <a:noFill/>
        </p:spPr>
        <p:txBody>
          <a:bodyPr wrap="squar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LIMITATIONS</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Environmental Sensitivity: Variations in lighting, camera angle, or weather conditions can affect image quality and reduce detection reliability.</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Hardware Dependence: Continuous monitoring requires stable power, sensor calibration, and connectivity, making the system less effective in remote areas.</a:t>
            </a:r>
          </a:p>
          <a:p>
            <a:endParaRPr lang="en-IN" dirty="0"/>
          </a:p>
        </p:txBody>
      </p:sp>
      <p:sp>
        <p:nvSpPr>
          <p:cNvPr id="11" name="Rectangle 4">
            <a:extLst>
              <a:ext uri="{FF2B5EF4-FFF2-40B4-BE49-F238E27FC236}">
                <a16:creationId xmlns:a16="http://schemas.microsoft.com/office/drawing/2014/main" id="{BDE0D055-9DBF-0D03-7E0E-CFFE28E93427}"/>
              </a:ext>
            </a:extLst>
          </p:cNvPr>
          <p:cNvSpPr>
            <a:spLocks noChangeArrowheads="1"/>
          </p:cNvSpPr>
          <p:nvPr/>
        </p:nvSpPr>
        <p:spPr bwMode="auto">
          <a:xfrm>
            <a:off x="0" y="-323165"/>
            <a:ext cx="1475602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Minimized Crop Loss:</a:t>
            </a:r>
            <a:r>
              <a:rPr kumimoji="0" lang="en-US" altLang="en-US" sz="1800" b="0" i="0" u="none" strike="noStrike" cap="none" normalizeH="0" baseline="0" dirty="0">
                <a:ln>
                  <a:noFill/>
                </a:ln>
                <a:solidFill>
                  <a:schemeClr val="tx1"/>
                </a:solidFill>
                <a:effectLst/>
                <a:latin typeface="Arial" panose="020B0604020202020204" pitchFamily="34" charset="0"/>
              </a:rPr>
              <a:t> Early AI-driven detection and automated corrective action significantly reduce the spread and impact of crop diseases.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7094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62D9E-7905-9E86-D622-3F319B699F21}"/>
            </a:ext>
          </a:extLst>
        </p:cNvPr>
        <p:cNvGrpSpPr/>
        <p:nvPr/>
      </p:nvGrpSpPr>
      <p:grpSpPr>
        <a:xfrm>
          <a:off x="0" y="0"/>
          <a:ext cx="0" cy="0"/>
          <a:chOff x="0" y="0"/>
          <a:chExt cx="0" cy="0"/>
        </a:xfrm>
      </p:grpSpPr>
      <p:pic>
        <p:nvPicPr>
          <p:cNvPr id="2049" name="Picture 36" descr="Description: http://www.mkce.ac.in/wp-content/uploads/2018/02/footer-logo.png">
            <a:extLst>
              <a:ext uri="{FF2B5EF4-FFF2-40B4-BE49-F238E27FC236}">
                <a16:creationId xmlns:a16="http://schemas.microsoft.com/office/drawing/2014/main" id="{3E470E8F-5AE2-9B61-A8FF-0A1622996A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a:extLst>
              <a:ext uri="{FF2B5EF4-FFF2-40B4-BE49-F238E27FC236}">
                <a16:creationId xmlns:a16="http://schemas.microsoft.com/office/drawing/2014/main" id="{E430B432-6E12-9A9D-B206-01E58391DF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850" y="29497"/>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a:extLst>
              <a:ext uri="{FF2B5EF4-FFF2-40B4-BE49-F238E27FC236}">
                <a16:creationId xmlns:a16="http://schemas.microsoft.com/office/drawing/2014/main" id="{ECEE1974-5FEC-A6A6-944E-6933A51760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2639" y="115043"/>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A782FA5A-94A8-1C0A-AE21-33F11E4601F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5">
            <a:extLst>
              <a:ext uri="{FF2B5EF4-FFF2-40B4-BE49-F238E27FC236}">
                <a16:creationId xmlns:a16="http://schemas.microsoft.com/office/drawing/2014/main" id="{67E85782-1FB6-1CF1-FF72-2D62DE3310D7}"/>
              </a:ext>
            </a:extLst>
          </p:cNvPr>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TextBox 1">
            <a:extLst>
              <a:ext uri="{FF2B5EF4-FFF2-40B4-BE49-F238E27FC236}">
                <a16:creationId xmlns:a16="http://schemas.microsoft.com/office/drawing/2014/main" id="{D2668C70-7A07-150D-2D6B-A303DC1B45E5}"/>
              </a:ext>
            </a:extLst>
          </p:cNvPr>
          <p:cNvSpPr txBox="1"/>
          <p:nvPr/>
        </p:nvSpPr>
        <p:spPr>
          <a:xfrm>
            <a:off x="382905" y="610308"/>
            <a:ext cx="6097904" cy="924292"/>
          </a:xfrm>
          <a:prstGeom prst="rect">
            <a:avLst/>
          </a:prstGeom>
          <a:noFill/>
        </p:spPr>
        <p:txBody>
          <a:bodyPr wrap="square">
            <a:spAutoFit/>
          </a:bodyPr>
          <a:lstStyle/>
          <a:p>
            <a:pPr>
              <a:lnSpc>
                <a:spcPts val="7940"/>
              </a:lnSpc>
            </a:pPr>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PROJECT OUTCOME</a:t>
            </a:r>
          </a:p>
        </p:txBody>
      </p:sp>
      <p:sp>
        <p:nvSpPr>
          <p:cNvPr id="3" name="Date Placeholder 2">
            <a:extLst>
              <a:ext uri="{FF2B5EF4-FFF2-40B4-BE49-F238E27FC236}">
                <a16:creationId xmlns:a16="http://schemas.microsoft.com/office/drawing/2014/main" id="{274DFD76-AA66-515F-9DFB-163674D766BD}"/>
              </a:ext>
            </a:extLst>
          </p:cNvPr>
          <p:cNvSpPr>
            <a:spLocks noGrp="1"/>
          </p:cNvSpPr>
          <p:nvPr>
            <p:ph type="dt" sz="half" idx="10"/>
          </p:nvPr>
        </p:nvSpPr>
        <p:spPr/>
        <p:txBody>
          <a:bodyPr/>
          <a:lstStyle/>
          <a:p>
            <a:fld id="{32DD3CD0-C654-401B-90E0-2FF2DC6AD571}" type="datetime1">
              <a:rPr lang="en-IN" smtClean="0"/>
              <a:t>19-12-2025</a:t>
            </a:fld>
            <a:endParaRPr lang="en-IN"/>
          </a:p>
        </p:txBody>
      </p:sp>
      <p:sp>
        <p:nvSpPr>
          <p:cNvPr id="7" name="Slide Number Placeholder 6">
            <a:extLst>
              <a:ext uri="{FF2B5EF4-FFF2-40B4-BE49-F238E27FC236}">
                <a16:creationId xmlns:a16="http://schemas.microsoft.com/office/drawing/2014/main" id="{FEB5BAE4-39CF-C5B6-8764-BF471AD6935A}"/>
              </a:ext>
            </a:extLst>
          </p:cNvPr>
          <p:cNvSpPr>
            <a:spLocks noGrp="1"/>
          </p:cNvSpPr>
          <p:nvPr>
            <p:ph type="sldNum" sz="quarter" idx="12"/>
          </p:nvPr>
        </p:nvSpPr>
        <p:spPr/>
        <p:txBody>
          <a:bodyPr/>
          <a:lstStyle/>
          <a:p>
            <a:fld id="{76349249-FC48-47B8-92FA-4330554B3729}" type="slidenum">
              <a:rPr lang="en-IN" smtClean="0"/>
              <a:t>17</a:t>
            </a:fld>
            <a:endParaRPr lang="en-IN"/>
          </a:p>
        </p:txBody>
      </p:sp>
      <p:pic>
        <p:nvPicPr>
          <p:cNvPr id="9" name="Picture 8">
            <a:extLst>
              <a:ext uri="{FF2B5EF4-FFF2-40B4-BE49-F238E27FC236}">
                <a16:creationId xmlns:a16="http://schemas.microsoft.com/office/drawing/2014/main" id="{69604838-EE5C-0106-E262-0B345B844A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00" y="1465252"/>
            <a:ext cx="6240779" cy="4733984"/>
          </a:xfrm>
          <a:prstGeom prst="rect">
            <a:avLst/>
          </a:prstGeom>
        </p:spPr>
      </p:pic>
      <p:pic>
        <p:nvPicPr>
          <p:cNvPr id="11" name="Picture 10">
            <a:extLst>
              <a:ext uri="{FF2B5EF4-FFF2-40B4-BE49-F238E27FC236}">
                <a16:creationId xmlns:a16="http://schemas.microsoft.com/office/drawing/2014/main" id="{CA4338FA-CBE8-8042-3B78-BDA912372E7A}"/>
              </a:ext>
            </a:extLst>
          </p:cNvPr>
          <p:cNvPicPr>
            <a:picLocks noChangeAspect="1"/>
          </p:cNvPicPr>
          <p:nvPr/>
        </p:nvPicPr>
        <p:blipFill>
          <a:blip r:embed="rId6">
            <a:extLst>
              <a:ext uri="{28A0092B-C50C-407E-A947-70E740481C1C}">
                <a14:useLocalDpi xmlns:a14="http://schemas.microsoft.com/office/drawing/2010/main" val="0"/>
              </a:ext>
            </a:extLst>
          </a:blip>
          <a:srcRect t="4544"/>
          <a:stretch>
            <a:fillRect/>
          </a:stretch>
        </p:blipFill>
        <p:spPr>
          <a:xfrm>
            <a:off x="7452359" y="1465253"/>
            <a:ext cx="3086100" cy="4891096"/>
          </a:xfrm>
          <a:prstGeom prst="rect">
            <a:avLst/>
          </a:prstGeom>
        </p:spPr>
      </p:pic>
    </p:spTree>
    <p:extLst>
      <p:ext uri="{BB962C8B-B14F-4D97-AF65-F5344CB8AC3E}">
        <p14:creationId xmlns:p14="http://schemas.microsoft.com/office/powerpoint/2010/main" val="811241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C155D-8568-BE06-E816-DC1B4F3FD6AE}"/>
            </a:ext>
          </a:extLst>
        </p:cNvPr>
        <p:cNvGrpSpPr/>
        <p:nvPr/>
      </p:nvGrpSpPr>
      <p:grpSpPr>
        <a:xfrm>
          <a:off x="0" y="0"/>
          <a:ext cx="0" cy="0"/>
          <a:chOff x="0" y="0"/>
          <a:chExt cx="0" cy="0"/>
        </a:xfrm>
      </p:grpSpPr>
      <p:pic>
        <p:nvPicPr>
          <p:cNvPr id="2049" name="Picture 36" descr="Description: http://www.mkce.ac.in/wp-content/uploads/2018/02/footer-logo.png">
            <a:extLst>
              <a:ext uri="{FF2B5EF4-FFF2-40B4-BE49-F238E27FC236}">
                <a16:creationId xmlns:a16="http://schemas.microsoft.com/office/drawing/2014/main" id="{79E94BF6-FFCA-1A78-C92D-ABAF3A191A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a:extLst>
              <a:ext uri="{FF2B5EF4-FFF2-40B4-BE49-F238E27FC236}">
                <a16:creationId xmlns:a16="http://schemas.microsoft.com/office/drawing/2014/main" id="{4059E3C0-D460-302A-FFD7-F56FE91E35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a:extLst>
              <a:ext uri="{FF2B5EF4-FFF2-40B4-BE49-F238E27FC236}">
                <a16:creationId xmlns:a16="http://schemas.microsoft.com/office/drawing/2014/main" id="{4E4C7707-8994-02C6-B95A-A787D85706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6D48AE8B-9B4F-D140-53B9-886BBFE996C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5">
            <a:extLst>
              <a:ext uri="{FF2B5EF4-FFF2-40B4-BE49-F238E27FC236}">
                <a16:creationId xmlns:a16="http://schemas.microsoft.com/office/drawing/2014/main" id="{022CD6F0-C932-2A7B-80AA-762B32184389}"/>
              </a:ext>
            </a:extLst>
          </p:cNvPr>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TextBox 1">
            <a:extLst>
              <a:ext uri="{FF2B5EF4-FFF2-40B4-BE49-F238E27FC236}">
                <a16:creationId xmlns:a16="http://schemas.microsoft.com/office/drawing/2014/main" id="{D2C1EDB0-84CA-29F8-EBC6-78577623EAA7}"/>
              </a:ext>
            </a:extLst>
          </p:cNvPr>
          <p:cNvSpPr txBox="1"/>
          <p:nvPr/>
        </p:nvSpPr>
        <p:spPr>
          <a:xfrm>
            <a:off x="448782" y="1147496"/>
            <a:ext cx="6097904" cy="924292"/>
          </a:xfrm>
          <a:prstGeom prst="rect">
            <a:avLst/>
          </a:prstGeom>
          <a:noFill/>
        </p:spPr>
        <p:txBody>
          <a:bodyPr wrap="square">
            <a:spAutoFit/>
          </a:bodyPr>
          <a:lstStyle/>
          <a:p>
            <a:pPr>
              <a:lnSpc>
                <a:spcPts val="7940"/>
              </a:lnSpc>
            </a:pPr>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FUTURE SCOPE</a:t>
            </a:r>
          </a:p>
        </p:txBody>
      </p:sp>
      <p:sp>
        <p:nvSpPr>
          <p:cNvPr id="6" name="Rectangle 1">
            <a:extLst>
              <a:ext uri="{FF2B5EF4-FFF2-40B4-BE49-F238E27FC236}">
                <a16:creationId xmlns:a16="http://schemas.microsoft.com/office/drawing/2014/main" id="{AAF04374-2753-1846-4767-74323FE2D9D3}"/>
              </a:ext>
            </a:extLst>
          </p:cNvPr>
          <p:cNvSpPr>
            <a:spLocks noChangeArrowheads="1"/>
          </p:cNvSpPr>
          <p:nvPr/>
        </p:nvSpPr>
        <p:spPr bwMode="auto">
          <a:xfrm rot="10800000" flipV="1">
            <a:off x="530225" y="2184800"/>
            <a:ext cx="10677731" cy="2950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of drone-based imaging for large-area, high-resolution crop monitoring.</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Deployment of edge-AI hardware to perform faster, on-device disease classification without cloud dependency.</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Expansion of the model dataset to include more crop varieties and emerging diseases for higher detection accuracy.</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Implementation of predictive analytics to forecast disease outbreaks using long-term sensor and weather data.</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Addition of automated nutrient management using soil analysis and fertilizer-control modules.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farm-to-cloud dashboard for multi-field monitoring and remote agronomic decision-making</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277303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BE526-74D5-090C-BD77-096B2B6DB87E}"/>
            </a:ext>
          </a:extLst>
        </p:cNvPr>
        <p:cNvGrpSpPr/>
        <p:nvPr/>
      </p:nvGrpSpPr>
      <p:grpSpPr>
        <a:xfrm>
          <a:off x="0" y="0"/>
          <a:ext cx="0" cy="0"/>
          <a:chOff x="0" y="0"/>
          <a:chExt cx="0" cy="0"/>
        </a:xfrm>
      </p:grpSpPr>
      <p:pic>
        <p:nvPicPr>
          <p:cNvPr id="2049" name="Picture 36" descr="Description: http://www.mkce.ac.in/wp-content/uploads/2018/02/footer-logo.png">
            <a:extLst>
              <a:ext uri="{FF2B5EF4-FFF2-40B4-BE49-F238E27FC236}">
                <a16:creationId xmlns:a16="http://schemas.microsoft.com/office/drawing/2014/main" id="{7DF4AA65-F1C8-9FAE-3571-79FCAED80D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a:extLst>
              <a:ext uri="{FF2B5EF4-FFF2-40B4-BE49-F238E27FC236}">
                <a16:creationId xmlns:a16="http://schemas.microsoft.com/office/drawing/2014/main" id="{6D174FB1-A82E-9576-B284-504AD27DE3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a:extLst>
              <a:ext uri="{FF2B5EF4-FFF2-40B4-BE49-F238E27FC236}">
                <a16:creationId xmlns:a16="http://schemas.microsoft.com/office/drawing/2014/main" id="{1F5A6C56-60C3-FA4C-0101-CA36A5703A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7341224C-D172-DCC6-2404-CDE820AEEA4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5">
            <a:extLst>
              <a:ext uri="{FF2B5EF4-FFF2-40B4-BE49-F238E27FC236}">
                <a16:creationId xmlns:a16="http://schemas.microsoft.com/office/drawing/2014/main" id="{A4BDB994-0670-85A2-9760-B091D338B7AE}"/>
              </a:ext>
            </a:extLst>
          </p:cNvPr>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TextBox 1">
            <a:extLst>
              <a:ext uri="{FF2B5EF4-FFF2-40B4-BE49-F238E27FC236}">
                <a16:creationId xmlns:a16="http://schemas.microsoft.com/office/drawing/2014/main" id="{FA0AAEA6-FF41-16AC-1198-8E4C70656B2E}"/>
              </a:ext>
            </a:extLst>
          </p:cNvPr>
          <p:cNvSpPr txBox="1"/>
          <p:nvPr/>
        </p:nvSpPr>
        <p:spPr>
          <a:xfrm>
            <a:off x="698090" y="1084586"/>
            <a:ext cx="6097904" cy="924292"/>
          </a:xfrm>
          <a:prstGeom prst="rect">
            <a:avLst/>
          </a:prstGeom>
          <a:noFill/>
        </p:spPr>
        <p:txBody>
          <a:bodyPr wrap="square">
            <a:spAutoFit/>
          </a:bodyPr>
          <a:lstStyle/>
          <a:p>
            <a:pPr>
              <a:lnSpc>
                <a:spcPts val="7940"/>
              </a:lnSpc>
            </a:pPr>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CONCLUSION</a:t>
            </a:r>
          </a:p>
        </p:txBody>
      </p:sp>
      <p:sp>
        <p:nvSpPr>
          <p:cNvPr id="7" name="TextBox 6">
            <a:extLst>
              <a:ext uri="{FF2B5EF4-FFF2-40B4-BE49-F238E27FC236}">
                <a16:creationId xmlns:a16="http://schemas.microsoft.com/office/drawing/2014/main" id="{5F574081-F506-DA1F-9622-529DD42FD8D5}"/>
              </a:ext>
            </a:extLst>
          </p:cNvPr>
          <p:cNvSpPr txBox="1"/>
          <p:nvPr/>
        </p:nvSpPr>
        <p:spPr>
          <a:xfrm>
            <a:off x="698090" y="2249327"/>
            <a:ext cx="10560461" cy="3373359"/>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	The AI-powered Crop Disease Detection and Action system helps farmers spot diseases in their crops at a very early stage, allowing them to take quick and correct actions. Instead of relying only on manual checking, the system uses cameras and sensors to constantly watch the crops and identify even small symptoms that humans might miss. This early detection keeps the plants healthier, improves yield, and reduces the amount of fertilizer or pesticide that gets wasted. It also saves a lot of time and effort for farmers because the monitoring is fully automated and works in real time. By giving accurate suggestions for treatment and reducing unnecessary manual work, the system supports smarter and more sustainable farming. Overall, it reduces crop loss, improves productivity, and helps strengthen food security</a:t>
            </a:r>
            <a:endParaRPr lang="en-IN"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57895D5B-ECBF-5D8F-ED60-0412CBF42933}"/>
              </a:ext>
            </a:extLst>
          </p:cNvPr>
          <p:cNvSpPr>
            <a:spLocks noGrp="1"/>
          </p:cNvSpPr>
          <p:nvPr>
            <p:ph type="dt" sz="half" idx="10"/>
          </p:nvPr>
        </p:nvSpPr>
        <p:spPr/>
        <p:txBody>
          <a:bodyPr/>
          <a:lstStyle/>
          <a:p>
            <a:fld id="{3CD2AB23-AB87-4F6A-A828-1C3ADF23FCD0}" type="datetime1">
              <a:rPr lang="en-IN" smtClean="0"/>
              <a:t>19-12-2025</a:t>
            </a:fld>
            <a:endParaRPr lang="en-IN"/>
          </a:p>
        </p:txBody>
      </p:sp>
      <p:sp>
        <p:nvSpPr>
          <p:cNvPr id="6" name="Slide Number Placeholder 5">
            <a:extLst>
              <a:ext uri="{FF2B5EF4-FFF2-40B4-BE49-F238E27FC236}">
                <a16:creationId xmlns:a16="http://schemas.microsoft.com/office/drawing/2014/main" id="{AF35D644-56E5-300B-AD92-F70B788D9FCF}"/>
              </a:ext>
            </a:extLst>
          </p:cNvPr>
          <p:cNvSpPr>
            <a:spLocks noGrp="1"/>
          </p:cNvSpPr>
          <p:nvPr>
            <p:ph type="sldNum" sz="quarter" idx="12"/>
          </p:nvPr>
        </p:nvSpPr>
        <p:spPr/>
        <p:txBody>
          <a:bodyPr/>
          <a:lstStyle/>
          <a:p>
            <a:fld id="{76349249-FC48-47B8-92FA-4330554B3729}" type="slidenum">
              <a:rPr lang="en-IN" smtClean="0"/>
              <a:t>19</a:t>
            </a:fld>
            <a:endParaRPr lang="en-IN"/>
          </a:p>
        </p:txBody>
      </p:sp>
    </p:spTree>
    <p:extLst>
      <p:ext uri="{BB962C8B-B14F-4D97-AF65-F5344CB8AC3E}">
        <p14:creationId xmlns:p14="http://schemas.microsoft.com/office/powerpoint/2010/main" val="6121921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0C300-B582-C943-2828-0F0F5156D8B6}"/>
            </a:ext>
          </a:extLst>
        </p:cNvPr>
        <p:cNvGrpSpPr/>
        <p:nvPr/>
      </p:nvGrpSpPr>
      <p:grpSpPr>
        <a:xfrm>
          <a:off x="0" y="0"/>
          <a:ext cx="0" cy="0"/>
          <a:chOff x="0" y="0"/>
          <a:chExt cx="0" cy="0"/>
        </a:xfrm>
      </p:grpSpPr>
      <p:pic>
        <p:nvPicPr>
          <p:cNvPr id="2049" name="Picture 36" descr="Description: http://www.mkce.ac.in/wp-content/uploads/2018/02/footer-logo.png">
            <a:extLst>
              <a:ext uri="{FF2B5EF4-FFF2-40B4-BE49-F238E27FC236}">
                <a16:creationId xmlns:a16="http://schemas.microsoft.com/office/drawing/2014/main" id="{138BF3C3-6FDF-F94A-9B5F-953BC027F8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a:extLst>
              <a:ext uri="{FF2B5EF4-FFF2-40B4-BE49-F238E27FC236}">
                <a16:creationId xmlns:a16="http://schemas.microsoft.com/office/drawing/2014/main" id="{2B6C5B5A-EE45-3E09-63FE-E93309A44B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a:extLst>
              <a:ext uri="{FF2B5EF4-FFF2-40B4-BE49-F238E27FC236}">
                <a16:creationId xmlns:a16="http://schemas.microsoft.com/office/drawing/2014/main" id="{84B29D1A-49D5-8663-5F05-AF22E98A59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50590"/>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693F5256-2AF6-8B5D-86DD-037E9A7D049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5">
            <a:extLst>
              <a:ext uri="{FF2B5EF4-FFF2-40B4-BE49-F238E27FC236}">
                <a16:creationId xmlns:a16="http://schemas.microsoft.com/office/drawing/2014/main" id="{AF43CC69-5B4B-7A59-6F79-2E296A6977F0}"/>
              </a:ext>
            </a:extLst>
          </p:cNvPr>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TextBox 1">
            <a:extLst>
              <a:ext uri="{FF2B5EF4-FFF2-40B4-BE49-F238E27FC236}">
                <a16:creationId xmlns:a16="http://schemas.microsoft.com/office/drawing/2014/main" id="{A7CE62CD-03B9-24DA-3CBA-AEE0A8C052DE}"/>
              </a:ext>
            </a:extLst>
          </p:cNvPr>
          <p:cNvSpPr txBox="1"/>
          <p:nvPr/>
        </p:nvSpPr>
        <p:spPr>
          <a:xfrm>
            <a:off x="596266" y="852909"/>
            <a:ext cx="6097904" cy="924292"/>
          </a:xfrm>
          <a:prstGeom prst="rect">
            <a:avLst/>
          </a:prstGeom>
          <a:noFill/>
        </p:spPr>
        <p:txBody>
          <a:bodyPr wrap="square">
            <a:spAutoFit/>
          </a:bodyPr>
          <a:lstStyle/>
          <a:p>
            <a:pPr>
              <a:lnSpc>
                <a:spcPts val="7940"/>
              </a:lnSpc>
            </a:pPr>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REFERENCE</a:t>
            </a:r>
          </a:p>
        </p:txBody>
      </p:sp>
      <p:sp>
        <p:nvSpPr>
          <p:cNvPr id="3" name="TextBox 2">
            <a:extLst>
              <a:ext uri="{FF2B5EF4-FFF2-40B4-BE49-F238E27FC236}">
                <a16:creationId xmlns:a16="http://schemas.microsoft.com/office/drawing/2014/main" id="{1604F1F4-D9C8-8E84-9EC7-B016E459AD44}"/>
              </a:ext>
            </a:extLst>
          </p:cNvPr>
          <p:cNvSpPr txBox="1"/>
          <p:nvPr/>
        </p:nvSpPr>
        <p:spPr>
          <a:xfrm>
            <a:off x="640430" y="1737410"/>
            <a:ext cx="10618121" cy="5028556"/>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[1] P. Gupta, “Real-Time Plant Disease Identification Using CNN-Based Deep Learning Models,” in Proc. IEEE           Int. Conf. on Computational Intelligence and Communication Networks (CICN), 2021, pp. 1–6.</a:t>
            </a:r>
          </a:p>
          <a:p>
            <a:pPr algn="just">
              <a:lnSpc>
                <a:spcPct val="150000"/>
              </a:lnSpc>
            </a:pPr>
            <a:r>
              <a:rPr lang="en-IN" dirty="0">
                <a:latin typeface="Times New Roman" panose="02020603050405020304" pitchFamily="18" charset="0"/>
                <a:cs typeface="Times New Roman" panose="02020603050405020304" pitchFamily="18" charset="0"/>
              </a:rPr>
              <a:t>[2] S. Khan, “IoT-Based Adaptive Environmental Monitoring System for Precision Agriculture,” in Proc. IEEE Int. Conf. on Smart IoT Systems, 2022, pp. 45–52.</a:t>
            </a:r>
          </a:p>
          <a:p>
            <a:pPr algn="just">
              <a:lnSpc>
                <a:spcPct val="150000"/>
              </a:lnSpc>
            </a:pPr>
            <a:r>
              <a:rPr lang="en-IN" dirty="0">
                <a:latin typeface="Times New Roman" panose="02020603050405020304" pitchFamily="18" charset="0"/>
                <a:cs typeface="Times New Roman" panose="02020603050405020304" pitchFamily="18" charset="0"/>
              </a:rPr>
              <a:t>[3] L. Zhou, “Multi-Sensor Fusion Framework for Early Detection of Crop Stress Using Visual and Environmental Data,” IEEE Sensors Journal, vol. 23, no. 4, pp. 789–797, 2023.</a:t>
            </a:r>
          </a:p>
          <a:p>
            <a:pPr algn="just">
              <a:lnSpc>
                <a:spcPct val="150000"/>
              </a:lnSpc>
            </a:pPr>
            <a:r>
              <a:rPr lang="en-IN" dirty="0">
                <a:latin typeface="Times New Roman" panose="02020603050405020304" pitchFamily="18" charset="0"/>
                <a:cs typeface="Times New Roman" panose="02020603050405020304" pitchFamily="18" charset="0"/>
              </a:rPr>
              <a:t>[4]  M. Singh, “Edge-AI Framework for On-Device Detection of Crop Diseases and Automated Pest Control,” IEEE Internet of Things Journal, vol. 10, no. 12, pp. 10345–10353, 2023.</a:t>
            </a:r>
          </a:p>
          <a:p>
            <a:pPr algn="just">
              <a:lnSpc>
                <a:spcPct val="150000"/>
              </a:lnSpc>
            </a:pPr>
            <a:r>
              <a:rPr lang="en-US" dirty="0">
                <a:latin typeface="Times New Roman" panose="02020603050405020304" pitchFamily="18" charset="0"/>
                <a:cs typeface="Times New Roman" panose="02020603050405020304" pitchFamily="18" charset="0"/>
              </a:rPr>
              <a:t>[5]  R. Sharma and A. Verma, “IoT-Enabled Smart Agriculture System for Real-Time Plant Health Monitoring        and Automated Irrigation,” in Proc. IEEE International Conference on Internet of Things and Intelligent Systems (</a:t>
            </a:r>
            <a:r>
              <a:rPr lang="en-US" dirty="0" err="1">
                <a:latin typeface="Times New Roman" panose="02020603050405020304" pitchFamily="18" charset="0"/>
                <a:cs typeface="Times New Roman" panose="02020603050405020304" pitchFamily="18" charset="0"/>
              </a:rPr>
              <a:t>IoTIIS</a:t>
            </a:r>
            <a:r>
              <a:rPr lang="en-US" dirty="0">
                <a:latin typeface="Times New Roman" panose="02020603050405020304" pitchFamily="18" charset="0"/>
                <a:cs typeface="Times New Roman" panose="02020603050405020304" pitchFamily="18" charset="0"/>
              </a:rPr>
              <a:t>), 2023, pp. 112–118.</a:t>
            </a:r>
            <a:endParaRPr lang="en-IN"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
        <p:nvSpPr>
          <p:cNvPr id="6" name="Date Placeholder 5">
            <a:extLst>
              <a:ext uri="{FF2B5EF4-FFF2-40B4-BE49-F238E27FC236}">
                <a16:creationId xmlns:a16="http://schemas.microsoft.com/office/drawing/2014/main" id="{E5DF5B8D-34E8-0385-C6C7-B692B9E069A5}"/>
              </a:ext>
            </a:extLst>
          </p:cNvPr>
          <p:cNvSpPr>
            <a:spLocks noGrp="1"/>
          </p:cNvSpPr>
          <p:nvPr>
            <p:ph type="dt" sz="half" idx="10"/>
          </p:nvPr>
        </p:nvSpPr>
        <p:spPr/>
        <p:txBody>
          <a:bodyPr/>
          <a:lstStyle/>
          <a:p>
            <a:fld id="{502A5E7D-EEEF-4680-82E5-C2B1564D2D28}" type="datetime1">
              <a:rPr lang="en-IN" smtClean="0"/>
              <a:t>19-12-2025</a:t>
            </a:fld>
            <a:endParaRPr lang="en-IN"/>
          </a:p>
        </p:txBody>
      </p:sp>
      <p:sp>
        <p:nvSpPr>
          <p:cNvPr id="7" name="Slide Number Placeholder 6">
            <a:extLst>
              <a:ext uri="{FF2B5EF4-FFF2-40B4-BE49-F238E27FC236}">
                <a16:creationId xmlns:a16="http://schemas.microsoft.com/office/drawing/2014/main" id="{CBDC95B9-7A50-A93D-46CB-4C714448DF6C}"/>
              </a:ext>
            </a:extLst>
          </p:cNvPr>
          <p:cNvSpPr>
            <a:spLocks noGrp="1"/>
          </p:cNvSpPr>
          <p:nvPr>
            <p:ph type="sldNum" sz="quarter" idx="12"/>
          </p:nvPr>
        </p:nvSpPr>
        <p:spPr/>
        <p:txBody>
          <a:bodyPr/>
          <a:lstStyle/>
          <a:p>
            <a:fld id="{76349249-FC48-47B8-92FA-4330554B3729}" type="slidenum">
              <a:rPr lang="en-IN" smtClean="0"/>
              <a:t>20</a:t>
            </a:fld>
            <a:endParaRPr lang="en-IN"/>
          </a:p>
        </p:txBody>
      </p:sp>
    </p:spTree>
    <p:extLst>
      <p:ext uri="{BB962C8B-B14F-4D97-AF65-F5344CB8AC3E}">
        <p14:creationId xmlns:p14="http://schemas.microsoft.com/office/powerpoint/2010/main" val="35570595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39*354"/>
  <p:tag name="TABLE_ENDDRAG_RECT" val="60*154*839*35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277</TotalTime>
  <Words>1676</Words>
  <Application>Microsoft Office PowerPoint</Application>
  <PresentationFormat>Widescreen</PresentationFormat>
  <Paragraphs>148</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Calibri Light</vt:lpstr>
      <vt:lpstr>League Spartan</vt:lpstr>
      <vt:lpstr>Times New Roman</vt:lpstr>
      <vt:lpstr>Times New Roman Regular</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Dr.D. Mercy</dc:creator>
  <cp:lastModifiedBy>BHARATHI S</cp:lastModifiedBy>
  <cp:revision>11</cp:revision>
  <dcterms:created xsi:type="dcterms:W3CDTF">2025-08-26T04:28:53Z</dcterms:created>
  <dcterms:modified xsi:type="dcterms:W3CDTF">2025-12-19T03:16:17Z</dcterms:modified>
</cp:coreProperties>
</file>